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" charset="1" panose="020B0502030000000004"/>
      <p:regular r:id="rId21"/>
    </p:embeddedFont>
    <p:embeddedFont>
      <p:font typeface="Cooper Hewitt Bold" charset="1" panose="00000000000000000000"/>
      <p:regular r:id="rId22"/>
    </p:embeddedFont>
    <p:embeddedFont>
      <p:font typeface="Inter Bold" charset="1" panose="020B0802030000000004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52126" y="3181248"/>
            <a:ext cx="3656989" cy="5855968"/>
            <a:chOff x="0" y="0"/>
            <a:chExt cx="963158" cy="15423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158" cy="1542313"/>
            </a:xfrm>
            <a:custGeom>
              <a:avLst/>
              <a:gdLst/>
              <a:ahLst/>
              <a:cxnLst/>
              <a:rect r="r" b="b" t="t" l="l"/>
              <a:pathLst>
                <a:path h="1542313" w="963158">
                  <a:moveTo>
                    <a:pt x="76213" y="0"/>
                  </a:moveTo>
                  <a:lnTo>
                    <a:pt x="886945" y="0"/>
                  </a:lnTo>
                  <a:cubicBezTo>
                    <a:pt x="929036" y="0"/>
                    <a:pt x="963158" y="34122"/>
                    <a:pt x="963158" y="76213"/>
                  </a:cubicBezTo>
                  <a:lnTo>
                    <a:pt x="963158" y="1466100"/>
                  </a:lnTo>
                  <a:cubicBezTo>
                    <a:pt x="963158" y="1486313"/>
                    <a:pt x="955128" y="1505698"/>
                    <a:pt x="940835" y="1519990"/>
                  </a:cubicBezTo>
                  <a:cubicBezTo>
                    <a:pt x="926543" y="1534283"/>
                    <a:pt x="907158" y="1542313"/>
                    <a:pt x="886945" y="1542313"/>
                  </a:cubicBezTo>
                  <a:lnTo>
                    <a:pt x="76213" y="1542313"/>
                  </a:lnTo>
                  <a:cubicBezTo>
                    <a:pt x="34122" y="1542313"/>
                    <a:pt x="0" y="1508191"/>
                    <a:pt x="0" y="1466100"/>
                  </a:cubicBezTo>
                  <a:lnTo>
                    <a:pt x="0" y="76213"/>
                  </a:lnTo>
                  <a:cubicBezTo>
                    <a:pt x="0" y="56000"/>
                    <a:pt x="8030" y="36615"/>
                    <a:pt x="22322" y="22322"/>
                  </a:cubicBezTo>
                  <a:cubicBezTo>
                    <a:pt x="36615" y="8030"/>
                    <a:pt x="56000" y="0"/>
                    <a:pt x="7621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63158" cy="1580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53441" y="3181248"/>
            <a:ext cx="11843766" cy="3584382"/>
            <a:chOff x="0" y="0"/>
            <a:chExt cx="3119346" cy="9440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19346" cy="944035"/>
            </a:xfrm>
            <a:custGeom>
              <a:avLst/>
              <a:gdLst/>
              <a:ahLst/>
              <a:cxnLst/>
              <a:rect r="r" b="b" t="t" l="l"/>
              <a:pathLst>
                <a:path h="944035" w="3119346">
                  <a:moveTo>
                    <a:pt x="26147" y="0"/>
                  </a:moveTo>
                  <a:lnTo>
                    <a:pt x="3093199" y="0"/>
                  </a:lnTo>
                  <a:cubicBezTo>
                    <a:pt x="3107640" y="0"/>
                    <a:pt x="3119346" y="11706"/>
                    <a:pt x="3119346" y="26147"/>
                  </a:cubicBezTo>
                  <a:lnTo>
                    <a:pt x="3119346" y="917888"/>
                  </a:lnTo>
                  <a:cubicBezTo>
                    <a:pt x="3119346" y="932328"/>
                    <a:pt x="3107640" y="944035"/>
                    <a:pt x="3093199" y="944035"/>
                  </a:cubicBezTo>
                  <a:lnTo>
                    <a:pt x="26147" y="944035"/>
                  </a:lnTo>
                  <a:cubicBezTo>
                    <a:pt x="11706" y="944035"/>
                    <a:pt x="0" y="932328"/>
                    <a:pt x="0" y="917888"/>
                  </a:cubicBezTo>
                  <a:lnTo>
                    <a:pt x="0" y="26147"/>
                  </a:lnTo>
                  <a:cubicBezTo>
                    <a:pt x="0" y="11706"/>
                    <a:pt x="11706" y="0"/>
                    <a:pt x="26147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19346" cy="9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3441" y="6934783"/>
            <a:ext cx="11843766" cy="1023380"/>
            <a:chOff x="0" y="0"/>
            <a:chExt cx="3119346" cy="2695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9346" cy="269532"/>
            </a:xfrm>
            <a:custGeom>
              <a:avLst/>
              <a:gdLst/>
              <a:ahLst/>
              <a:cxnLst/>
              <a:rect r="r" b="b" t="t" l="l"/>
              <a:pathLst>
                <a:path h="269532" w="3119346">
                  <a:moveTo>
                    <a:pt x="18956" y="0"/>
                  </a:moveTo>
                  <a:lnTo>
                    <a:pt x="3100389" y="0"/>
                  </a:lnTo>
                  <a:cubicBezTo>
                    <a:pt x="3105417" y="0"/>
                    <a:pt x="3110239" y="1997"/>
                    <a:pt x="3113794" y="5552"/>
                  </a:cubicBezTo>
                  <a:cubicBezTo>
                    <a:pt x="3117349" y="9107"/>
                    <a:pt x="3119346" y="13929"/>
                    <a:pt x="3119346" y="18956"/>
                  </a:cubicBezTo>
                  <a:lnTo>
                    <a:pt x="3119346" y="250576"/>
                  </a:lnTo>
                  <a:cubicBezTo>
                    <a:pt x="3119346" y="255603"/>
                    <a:pt x="3117349" y="260425"/>
                    <a:pt x="3113794" y="263980"/>
                  </a:cubicBezTo>
                  <a:cubicBezTo>
                    <a:pt x="3110239" y="267535"/>
                    <a:pt x="3105417" y="269532"/>
                    <a:pt x="3100389" y="269532"/>
                  </a:cubicBezTo>
                  <a:lnTo>
                    <a:pt x="18956" y="269532"/>
                  </a:lnTo>
                  <a:cubicBezTo>
                    <a:pt x="13929" y="269532"/>
                    <a:pt x="9107" y="267535"/>
                    <a:pt x="5552" y="263980"/>
                  </a:cubicBezTo>
                  <a:cubicBezTo>
                    <a:pt x="1997" y="260425"/>
                    <a:pt x="0" y="255603"/>
                    <a:pt x="0" y="250576"/>
                  </a:cubicBezTo>
                  <a:lnTo>
                    <a:pt x="0" y="18956"/>
                  </a:lnTo>
                  <a:cubicBezTo>
                    <a:pt x="0" y="13929"/>
                    <a:pt x="1997" y="9107"/>
                    <a:pt x="5552" y="5552"/>
                  </a:cubicBezTo>
                  <a:cubicBezTo>
                    <a:pt x="9107" y="1997"/>
                    <a:pt x="13929" y="0"/>
                    <a:pt x="1895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19346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3441" y="8129612"/>
            <a:ext cx="2932574" cy="621151"/>
            <a:chOff x="0" y="0"/>
            <a:chExt cx="772365" cy="1635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2365" cy="163595"/>
            </a:xfrm>
            <a:custGeom>
              <a:avLst/>
              <a:gdLst/>
              <a:ahLst/>
              <a:cxnLst/>
              <a:rect r="r" b="b" t="t" l="l"/>
              <a:pathLst>
                <a:path h="163595" w="772365">
                  <a:moveTo>
                    <a:pt x="44880" y="0"/>
                  </a:moveTo>
                  <a:lnTo>
                    <a:pt x="727486" y="0"/>
                  </a:lnTo>
                  <a:cubicBezTo>
                    <a:pt x="739388" y="0"/>
                    <a:pt x="750804" y="4728"/>
                    <a:pt x="759220" y="13145"/>
                  </a:cubicBezTo>
                  <a:cubicBezTo>
                    <a:pt x="767637" y="21561"/>
                    <a:pt x="772365" y="32977"/>
                    <a:pt x="772365" y="44880"/>
                  </a:cubicBezTo>
                  <a:lnTo>
                    <a:pt x="772365" y="118716"/>
                  </a:lnTo>
                  <a:cubicBezTo>
                    <a:pt x="772365" y="130618"/>
                    <a:pt x="767637" y="142034"/>
                    <a:pt x="759220" y="150450"/>
                  </a:cubicBezTo>
                  <a:cubicBezTo>
                    <a:pt x="750804" y="158867"/>
                    <a:pt x="739388" y="163595"/>
                    <a:pt x="727486" y="163595"/>
                  </a:cubicBezTo>
                  <a:lnTo>
                    <a:pt x="44880" y="163595"/>
                  </a:lnTo>
                  <a:cubicBezTo>
                    <a:pt x="32977" y="163595"/>
                    <a:pt x="21561" y="158867"/>
                    <a:pt x="13145" y="150450"/>
                  </a:cubicBezTo>
                  <a:cubicBezTo>
                    <a:pt x="4728" y="142034"/>
                    <a:pt x="0" y="130618"/>
                    <a:pt x="0" y="118716"/>
                  </a:cubicBezTo>
                  <a:lnTo>
                    <a:pt x="0" y="44880"/>
                  </a:lnTo>
                  <a:cubicBezTo>
                    <a:pt x="0" y="32977"/>
                    <a:pt x="4728" y="21561"/>
                    <a:pt x="13145" y="13145"/>
                  </a:cubicBezTo>
                  <a:cubicBezTo>
                    <a:pt x="21561" y="4728"/>
                    <a:pt x="32977" y="0"/>
                    <a:pt x="448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72365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Semester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64634" y="8129612"/>
            <a:ext cx="2932574" cy="621151"/>
            <a:chOff x="0" y="0"/>
            <a:chExt cx="772365" cy="1635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2365" cy="163595"/>
            </a:xfrm>
            <a:custGeom>
              <a:avLst/>
              <a:gdLst/>
              <a:ahLst/>
              <a:cxnLst/>
              <a:rect r="r" b="b" t="t" l="l"/>
              <a:pathLst>
                <a:path h="163595" w="772365">
                  <a:moveTo>
                    <a:pt x="44880" y="0"/>
                  </a:moveTo>
                  <a:lnTo>
                    <a:pt x="727486" y="0"/>
                  </a:lnTo>
                  <a:cubicBezTo>
                    <a:pt x="739388" y="0"/>
                    <a:pt x="750804" y="4728"/>
                    <a:pt x="759220" y="13145"/>
                  </a:cubicBezTo>
                  <a:cubicBezTo>
                    <a:pt x="767637" y="21561"/>
                    <a:pt x="772365" y="32977"/>
                    <a:pt x="772365" y="44880"/>
                  </a:cubicBezTo>
                  <a:lnTo>
                    <a:pt x="772365" y="118716"/>
                  </a:lnTo>
                  <a:cubicBezTo>
                    <a:pt x="772365" y="130618"/>
                    <a:pt x="767637" y="142034"/>
                    <a:pt x="759220" y="150450"/>
                  </a:cubicBezTo>
                  <a:cubicBezTo>
                    <a:pt x="750804" y="158867"/>
                    <a:pt x="739388" y="163595"/>
                    <a:pt x="727486" y="163595"/>
                  </a:cubicBezTo>
                  <a:lnTo>
                    <a:pt x="44880" y="163595"/>
                  </a:lnTo>
                  <a:cubicBezTo>
                    <a:pt x="32977" y="163595"/>
                    <a:pt x="21561" y="158867"/>
                    <a:pt x="13145" y="150450"/>
                  </a:cubicBezTo>
                  <a:cubicBezTo>
                    <a:pt x="4728" y="142034"/>
                    <a:pt x="0" y="130618"/>
                    <a:pt x="0" y="118716"/>
                  </a:cubicBezTo>
                  <a:lnTo>
                    <a:pt x="0" y="44880"/>
                  </a:lnTo>
                  <a:cubicBezTo>
                    <a:pt x="0" y="32977"/>
                    <a:pt x="4728" y="21561"/>
                    <a:pt x="13145" y="13145"/>
                  </a:cubicBezTo>
                  <a:cubicBezTo>
                    <a:pt x="21561" y="4728"/>
                    <a:pt x="32977" y="0"/>
                    <a:pt x="448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72365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Project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30544" y="4762907"/>
            <a:ext cx="844833" cy="84483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828612" y="5728640"/>
            <a:ext cx="844833" cy="84483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828612" y="6697297"/>
            <a:ext cx="844833" cy="84483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757238" y="4762907"/>
            <a:ext cx="844833" cy="844833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755307" y="5728640"/>
            <a:ext cx="844833" cy="844833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755307" y="6697297"/>
            <a:ext cx="844833" cy="844833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841032" y="7665955"/>
            <a:ext cx="844833" cy="844833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687796" y="4762907"/>
            <a:ext cx="844833" cy="844833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685865" y="5728640"/>
            <a:ext cx="844833" cy="844833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685865" y="6697297"/>
            <a:ext cx="844833" cy="844833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4F8FF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4896107" y="8827769"/>
            <a:ext cx="816678" cy="0"/>
          </a:xfrm>
          <a:prstGeom prst="line">
            <a:avLst/>
          </a:prstGeom>
          <a:ln cap="rnd" w="38100">
            <a:solidFill>
              <a:srgbClr val="F4F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0" id="60"/>
          <p:cNvSpPr/>
          <p:nvPr/>
        </p:nvSpPr>
        <p:spPr>
          <a:xfrm flipH="false" flipV="false" rot="0">
            <a:off x="14888620" y="3611231"/>
            <a:ext cx="584002" cy="791136"/>
          </a:xfrm>
          <a:custGeom>
            <a:avLst/>
            <a:gdLst/>
            <a:ahLst/>
            <a:cxnLst/>
            <a:rect r="r" b="b" t="t" l="l"/>
            <a:pathLst>
              <a:path h="791136" w="584002">
                <a:moveTo>
                  <a:pt x="0" y="0"/>
                </a:moveTo>
                <a:lnTo>
                  <a:pt x="584002" y="0"/>
                </a:lnTo>
                <a:lnTo>
                  <a:pt x="584002" y="791136"/>
                </a:lnTo>
                <a:lnTo>
                  <a:pt x="0" y="79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1" id="61"/>
          <p:cNvSpPr/>
          <p:nvPr/>
        </p:nvSpPr>
        <p:spPr>
          <a:xfrm>
            <a:off x="4286015" y="8459238"/>
            <a:ext cx="5978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7265466" y="8306136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353441" y="1875260"/>
            <a:ext cx="15581117" cy="1134538"/>
            <a:chOff x="0" y="0"/>
            <a:chExt cx="4103669" cy="2988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03669" cy="298808"/>
            </a:xfrm>
            <a:custGeom>
              <a:avLst/>
              <a:gdLst/>
              <a:ahLst/>
              <a:cxnLst/>
              <a:rect r="r" b="b" t="t" l="l"/>
              <a:pathLst>
                <a:path h="298808" w="4103669">
                  <a:moveTo>
                    <a:pt x="18385" y="0"/>
                  </a:moveTo>
                  <a:lnTo>
                    <a:pt x="4085284" y="0"/>
                  </a:lnTo>
                  <a:cubicBezTo>
                    <a:pt x="4090160" y="0"/>
                    <a:pt x="4094836" y="1937"/>
                    <a:pt x="4098284" y="5385"/>
                  </a:cubicBezTo>
                  <a:cubicBezTo>
                    <a:pt x="4101732" y="8832"/>
                    <a:pt x="4103669" y="13509"/>
                    <a:pt x="4103669" y="18385"/>
                  </a:cubicBezTo>
                  <a:lnTo>
                    <a:pt x="4103669" y="280424"/>
                  </a:lnTo>
                  <a:cubicBezTo>
                    <a:pt x="4103669" y="285300"/>
                    <a:pt x="4101732" y="289976"/>
                    <a:pt x="4098284" y="293424"/>
                  </a:cubicBezTo>
                  <a:cubicBezTo>
                    <a:pt x="4094836" y="296872"/>
                    <a:pt x="4090160" y="298808"/>
                    <a:pt x="4085284" y="298808"/>
                  </a:cubicBezTo>
                  <a:lnTo>
                    <a:pt x="18385" y="298808"/>
                  </a:lnTo>
                  <a:cubicBezTo>
                    <a:pt x="8231" y="298808"/>
                    <a:pt x="0" y="290577"/>
                    <a:pt x="0" y="280424"/>
                  </a:cubicBezTo>
                  <a:lnTo>
                    <a:pt x="0" y="18385"/>
                  </a:lnTo>
                  <a:cubicBezTo>
                    <a:pt x="0" y="13509"/>
                    <a:pt x="1937" y="8832"/>
                    <a:pt x="5385" y="5385"/>
                  </a:cubicBezTo>
                  <a:cubicBezTo>
                    <a:pt x="8832" y="1937"/>
                    <a:pt x="13509" y="0"/>
                    <a:pt x="18385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103669" cy="33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038780" y="2121947"/>
            <a:ext cx="1685076" cy="621151"/>
            <a:chOff x="0" y="0"/>
            <a:chExt cx="443806" cy="16359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Cyber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825037" y="2112422"/>
            <a:ext cx="1685076" cy="621151"/>
            <a:chOff x="0" y="0"/>
            <a:chExt cx="443806" cy="1635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Protect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614888" y="2112422"/>
            <a:ext cx="1685076" cy="621151"/>
            <a:chOff x="0" y="0"/>
            <a:chExt cx="443806" cy="16359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Data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404739" y="2131954"/>
            <a:ext cx="1685076" cy="621151"/>
            <a:chOff x="0" y="0"/>
            <a:chExt cx="443806" cy="16359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Threat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94591" y="2131954"/>
            <a:ext cx="1685076" cy="621151"/>
            <a:chOff x="0" y="0"/>
            <a:chExt cx="443806" cy="16359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Security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984442" y="2112422"/>
            <a:ext cx="1685076" cy="621151"/>
            <a:chOff x="0" y="0"/>
            <a:chExt cx="443806" cy="16359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Attack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774293" y="2131954"/>
            <a:ext cx="1685076" cy="621151"/>
            <a:chOff x="0" y="0"/>
            <a:chExt cx="443806" cy="16359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Firewall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564144" y="2112422"/>
            <a:ext cx="1685076" cy="621151"/>
            <a:chOff x="0" y="0"/>
            <a:chExt cx="443806" cy="16359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Malware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2294591" y="3070762"/>
            <a:ext cx="10259365" cy="370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  <a:spcBef>
                <a:spcPct val="0"/>
              </a:spcBef>
            </a:pPr>
            <a:r>
              <a:rPr lang="en-US" b="true" sz="98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SCAM </a:t>
            </a:r>
            <a:r>
              <a:rPr lang="en-US" b="true" sz="98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CRIME SCRIPT ANALYSIS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188428" y="7137873"/>
            <a:ext cx="8154074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spc="1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Using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5654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28700" y="426081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028700" y="2104778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045045" y="4126758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247671" y="4877195"/>
            <a:ext cx="2623557" cy="262355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146" t="-62440" r="-414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33378" y="4878352"/>
            <a:ext cx="2621243" cy="262124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55136" t="-40094" r="-5513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416772" y="4878718"/>
            <a:ext cx="2620511" cy="262051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168189" y="2330151"/>
            <a:ext cx="13951622" cy="16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GROUP MEMBERS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56435" y="7748402"/>
            <a:ext cx="200602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HADIA ALI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410865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00886" y="7748402"/>
            <a:ext cx="348413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AIMEN MUNAWAR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415867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84958" y="7748402"/>
            <a:ext cx="348413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MAHEEN KHAN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429419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5654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28700" y="426081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028700" y="2104778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010222" y="7158221"/>
            <a:ext cx="1344406" cy="13444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78743" y="4927991"/>
            <a:ext cx="1344406" cy="134440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78743" y="7158221"/>
            <a:ext cx="1344406" cy="134440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74759" y="4927991"/>
            <a:ext cx="1344406" cy="134440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74759" y="7158221"/>
            <a:ext cx="1344406" cy="134440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010222" y="4927991"/>
            <a:ext cx="1344406" cy="134440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3355389" y="5160415"/>
            <a:ext cx="654071" cy="879558"/>
          </a:xfrm>
          <a:custGeom>
            <a:avLst/>
            <a:gdLst/>
            <a:ahLst/>
            <a:cxnLst/>
            <a:rect r="r" b="b" t="t" l="l"/>
            <a:pathLst>
              <a:path h="879558" w="654071">
                <a:moveTo>
                  <a:pt x="0" y="0"/>
                </a:moveTo>
                <a:lnTo>
                  <a:pt x="654072" y="0"/>
                </a:lnTo>
                <a:lnTo>
                  <a:pt x="654072" y="879558"/>
                </a:lnTo>
                <a:lnTo>
                  <a:pt x="0" y="879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307713" y="7477629"/>
            <a:ext cx="747736" cy="705591"/>
          </a:xfrm>
          <a:custGeom>
            <a:avLst/>
            <a:gdLst/>
            <a:ahLst/>
            <a:cxnLst/>
            <a:rect r="r" b="b" t="t" l="l"/>
            <a:pathLst>
              <a:path h="705591" w="747736">
                <a:moveTo>
                  <a:pt x="0" y="0"/>
                </a:moveTo>
                <a:lnTo>
                  <a:pt x="747736" y="0"/>
                </a:lnTo>
                <a:lnTo>
                  <a:pt x="747736" y="705591"/>
                </a:lnTo>
                <a:lnTo>
                  <a:pt x="0" y="705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754189" y="5077443"/>
            <a:ext cx="793515" cy="942620"/>
          </a:xfrm>
          <a:custGeom>
            <a:avLst/>
            <a:gdLst/>
            <a:ahLst/>
            <a:cxnLst/>
            <a:rect r="r" b="b" t="t" l="l"/>
            <a:pathLst>
              <a:path h="942620" w="793515">
                <a:moveTo>
                  <a:pt x="0" y="0"/>
                </a:moveTo>
                <a:lnTo>
                  <a:pt x="793514" y="0"/>
                </a:lnTo>
                <a:lnTo>
                  <a:pt x="793514" y="942620"/>
                </a:lnTo>
                <a:lnTo>
                  <a:pt x="0" y="942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7785030" y="7481581"/>
            <a:ext cx="731831" cy="731831"/>
          </a:xfrm>
          <a:custGeom>
            <a:avLst/>
            <a:gdLst/>
            <a:ahLst/>
            <a:cxnLst/>
            <a:rect r="r" b="b" t="t" l="l"/>
            <a:pathLst>
              <a:path h="731831" w="731831">
                <a:moveTo>
                  <a:pt x="0" y="0"/>
                </a:moveTo>
                <a:lnTo>
                  <a:pt x="731831" y="0"/>
                </a:lnTo>
                <a:lnTo>
                  <a:pt x="731831" y="731831"/>
                </a:lnTo>
                <a:lnTo>
                  <a:pt x="0" y="731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026416" y="5275990"/>
            <a:ext cx="841093" cy="648406"/>
          </a:xfrm>
          <a:custGeom>
            <a:avLst/>
            <a:gdLst/>
            <a:ahLst/>
            <a:cxnLst/>
            <a:rect r="r" b="b" t="t" l="l"/>
            <a:pathLst>
              <a:path h="648406" w="841093">
                <a:moveTo>
                  <a:pt x="0" y="0"/>
                </a:moveTo>
                <a:lnTo>
                  <a:pt x="841093" y="0"/>
                </a:lnTo>
                <a:lnTo>
                  <a:pt x="841093" y="648407"/>
                </a:lnTo>
                <a:lnTo>
                  <a:pt x="0" y="6484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022409" y="7419467"/>
            <a:ext cx="827937" cy="821915"/>
          </a:xfrm>
          <a:custGeom>
            <a:avLst/>
            <a:gdLst/>
            <a:ahLst/>
            <a:cxnLst/>
            <a:rect r="r" b="b" t="t" l="l"/>
            <a:pathLst>
              <a:path h="821915" w="827937">
                <a:moveTo>
                  <a:pt x="0" y="0"/>
                </a:moveTo>
                <a:lnTo>
                  <a:pt x="827937" y="0"/>
                </a:lnTo>
                <a:lnTo>
                  <a:pt x="827937" y="821915"/>
                </a:lnTo>
                <a:lnTo>
                  <a:pt x="0" y="8219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168189" y="2330151"/>
            <a:ext cx="13951622" cy="16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TABLE OF CONTENTS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045045" y="4126758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4528003" y="5073779"/>
            <a:ext cx="265358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Selected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Research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28003" y="7551659"/>
            <a:ext cx="25267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Improvement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94599" y="7551659"/>
            <a:ext cx="286018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290615" y="5022338"/>
            <a:ext cx="227345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Identified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Limitations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90615" y="7551659"/>
            <a:ext cx="227345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994599" y="5022338"/>
            <a:ext cx="265358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87657" y="1848890"/>
            <a:ext cx="6285793" cy="7050577"/>
            <a:chOff x="0" y="0"/>
            <a:chExt cx="1655518" cy="18569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5518" cy="1856942"/>
            </a:xfrm>
            <a:custGeom>
              <a:avLst/>
              <a:gdLst/>
              <a:ahLst/>
              <a:cxnLst/>
              <a:rect r="r" b="b" t="t" l="l"/>
              <a:pathLst>
                <a:path h="1856942" w="1655518">
                  <a:moveTo>
                    <a:pt x="49266" y="0"/>
                  </a:moveTo>
                  <a:lnTo>
                    <a:pt x="1606251" y="0"/>
                  </a:lnTo>
                  <a:cubicBezTo>
                    <a:pt x="1619318" y="0"/>
                    <a:pt x="1631849" y="5191"/>
                    <a:pt x="1641088" y="14430"/>
                  </a:cubicBezTo>
                  <a:cubicBezTo>
                    <a:pt x="1650327" y="23669"/>
                    <a:pt x="1655518" y="36200"/>
                    <a:pt x="1655518" y="49266"/>
                  </a:cubicBezTo>
                  <a:lnTo>
                    <a:pt x="1655518" y="1807676"/>
                  </a:lnTo>
                  <a:cubicBezTo>
                    <a:pt x="1655518" y="1820742"/>
                    <a:pt x="1650327" y="1833273"/>
                    <a:pt x="1641088" y="1842512"/>
                  </a:cubicBezTo>
                  <a:cubicBezTo>
                    <a:pt x="1631849" y="1851751"/>
                    <a:pt x="1619318" y="1856942"/>
                    <a:pt x="1606251" y="1856942"/>
                  </a:cubicBezTo>
                  <a:lnTo>
                    <a:pt x="49266" y="1856942"/>
                  </a:lnTo>
                  <a:cubicBezTo>
                    <a:pt x="36200" y="1856942"/>
                    <a:pt x="23669" y="1851751"/>
                    <a:pt x="14430" y="1842512"/>
                  </a:cubicBezTo>
                  <a:cubicBezTo>
                    <a:pt x="5191" y="1833273"/>
                    <a:pt x="0" y="1820742"/>
                    <a:pt x="0" y="1807676"/>
                  </a:cubicBezTo>
                  <a:lnTo>
                    <a:pt x="0" y="49266"/>
                  </a:lnTo>
                  <a:cubicBezTo>
                    <a:pt x="0" y="36200"/>
                    <a:pt x="5191" y="23669"/>
                    <a:pt x="14430" y="14430"/>
                  </a:cubicBezTo>
                  <a:cubicBezTo>
                    <a:pt x="23669" y="5191"/>
                    <a:pt x="36200" y="0"/>
                    <a:pt x="4926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55518" cy="1895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688274" y="1996889"/>
            <a:ext cx="538688" cy="59260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6124363" y="8019787"/>
            <a:ext cx="639299" cy="74585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28700" y="4502251"/>
            <a:ext cx="955895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102094" y="2425918"/>
            <a:ext cx="5256920" cy="5896521"/>
            <a:chOff x="0" y="0"/>
            <a:chExt cx="1384539" cy="15529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4539" cy="1552993"/>
            </a:xfrm>
            <a:custGeom>
              <a:avLst/>
              <a:gdLst/>
              <a:ahLst/>
              <a:cxnLst/>
              <a:rect r="r" b="b" t="t" l="l"/>
              <a:pathLst>
                <a:path h="1552993" w="1384539">
                  <a:moveTo>
                    <a:pt x="58908" y="0"/>
                  </a:moveTo>
                  <a:lnTo>
                    <a:pt x="1325630" y="0"/>
                  </a:lnTo>
                  <a:cubicBezTo>
                    <a:pt x="1341254" y="0"/>
                    <a:pt x="1356237" y="6206"/>
                    <a:pt x="1367285" y="17254"/>
                  </a:cubicBezTo>
                  <a:cubicBezTo>
                    <a:pt x="1378332" y="28301"/>
                    <a:pt x="1384539" y="43285"/>
                    <a:pt x="1384539" y="58908"/>
                  </a:cubicBezTo>
                  <a:lnTo>
                    <a:pt x="1384539" y="1494085"/>
                  </a:lnTo>
                  <a:cubicBezTo>
                    <a:pt x="1384539" y="1509708"/>
                    <a:pt x="1378332" y="1524692"/>
                    <a:pt x="1367285" y="1535739"/>
                  </a:cubicBezTo>
                  <a:cubicBezTo>
                    <a:pt x="1356237" y="1546787"/>
                    <a:pt x="1341254" y="1552993"/>
                    <a:pt x="1325630" y="1552993"/>
                  </a:cubicBezTo>
                  <a:lnTo>
                    <a:pt x="58908" y="1552993"/>
                  </a:lnTo>
                  <a:cubicBezTo>
                    <a:pt x="26374" y="1552993"/>
                    <a:pt x="0" y="1526619"/>
                    <a:pt x="0" y="1494085"/>
                  </a:cubicBezTo>
                  <a:lnTo>
                    <a:pt x="0" y="58908"/>
                  </a:lnTo>
                  <a:cubicBezTo>
                    <a:pt x="0" y="43285"/>
                    <a:pt x="6206" y="28301"/>
                    <a:pt x="17254" y="17254"/>
                  </a:cubicBezTo>
                  <a:cubicBezTo>
                    <a:pt x="28301" y="6206"/>
                    <a:pt x="43285" y="0"/>
                    <a:pt x="5890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84539" cy="1591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036388" y="2983878"/>
            <a:ext cx="3388330" cy="4556434"/>
          </a:xfrm>
          <a:custGeom>
            <a:avLst/>
            <a:gdLst/>
            <a:ahLst/>
            <a:cxnLst/>
            <a:rect r="r" b="b" t="t" l="l"/>
            <a:pathLst>
              <a:path h="4556434" w="3388330">
                <a:moveTo>
                  <a:pt x="0" y="0"/>
                </a:moveTo>
                <a:lnTo>
                  <a:pt x="3388331" y="0"/>
                </a:lnTo>
                <a:lnTo>
                  <a:pt x="3388331" y="4556435"/>
                </a:lnTo>
                <a:lnTo>
                  <a:pt x="0" y="4556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77756" y="1425389"/>
            <a:ext cx="7466993" cy="303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7"/>
              </a:lnSpc>
              <a:spcBef>
                <a:spcPct val="0"/>
              </a:spcBef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SELECTED RESEARCH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7756" y="4735681"/>
            <a:ext cx="673240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Supporting Crime Script Analyses of Scams with NLP (2023)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444749" y="4364943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878801" y="4364943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835411" y="5969486"/>
            <a:ext cx="9796146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Scam reports are unstructured free-text </a:t>
            </a:r>
          </a:p>
          <a:p>
            <a:pPr algn="l">
              <a:lnSpc>
                <a:spcPts val="3640"/>
              </a:lnSpc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narratives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 crime-script analysis is time</a:t>
            </a:r>
          </a:p>
          <a:p>
            <a:pPr algn="l">
              <a:lnSpc>
                <a:spcPts val="3640"/>
              </a:lnSpc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consuming and resource-intensive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Difficult to systematically identify scam </a:t>
            </a:r>
          </a:p>
          <a:p>
            <a:pPr algn="l">
              <a:lnSpc>
                <a:spcPts val="3640"/>
              </a:lnSpc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stages, reason, and intervention points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028700" y="426081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028700" y="2104778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168189" y="2330151"/>
            <a:ext cx="13951622" cy="16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7"/>
              </a:lnSpc>
              <a:spcBef>
                <a:spcPct val="0"/>
              </a:spcBef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SELECTED RESEARCH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2687" y="4616699"/>
            <a:ext cx="673240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Objective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045045" y="4126758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10" y="0"/>
                </a:lnTo>
                <a:lnTo>
                  <a:pt x="197910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9153525" y="4394862"/>
            <a:ext cx="0" cy="486343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835411" y="5374254"/>
            <a:ext cx="6732407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Natural Language Processing (NLP) to automatically: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Identify scam reports with similar modus operandi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Extract key terms and sequences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</a:t>
            </a: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crime scripts that describe how scams unfold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34550" y="4616699"/>
            <a:ext cx="673240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Used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57274" y="5374254"/>
            <a:ext cx="6732407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“Scam Alert” website (Singapore)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Content: Vic</a:t>
            </a: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tim-submitted reports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Time span: 2016 -&gt; 2020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cleaned dataset: 4,554 scam reports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Cov</a:t>
            </a: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erag</a:t>
            </a:r>
            <a:r>
              <a:rPr lang="en-US" sz="2600" spc="13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e: 21 scam types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2696175"/>
            <a:chOff x="0" y="0"/>
            <a:chExt cx="4274726" cy="710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10104"/>
            </a:xfrm>
            <a:custGeom>
              <a:avLst/>
              <a:gdLst/>
              <a:ahLst/>
              <a:cxnLst/>
              <a:rect r="r" b="b" t="t" l="l"/>
              <a:pathLst>
                <a:path h="710104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691024"/>
                  </a:lnTo>
                  <a:cubicBezTo>
                    <a:pt x="4274726" y="696084"/>
                    <a:pt x="4272716" y="700937"/>
                    <a:pt x="4269137" y="704515"/>
                  </a:cubicBezTo>
                  <a:cubicBezTo>
                    <a:pt x="4265559" y="708093"/>
                    <a:pt x="4260706" y="710104"/>
                    <a:pt x="4255646" y="710104"/>
                  </a:cubicBezTo>
                  <a:lnTo>
                    <a:pt x="19080" y="710104"/>
                  </a:lnTo>
                  <a:cubicBezTo>
                    <a:pt x="8542" y="710104"/>
                    <a:pt x="0" y="701561"/>
                    <a:pt x="0" y="691024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74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858225"/>
            <a:ext cx="16230600" cy="5400075"/>
            <a:chOff x="0" y="0"/>
            <a:chExt cx="4274726" cy="14222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1422242"/>
            </a:xfrm>
            <a:custGeom>
              <a:avLst/>
              <a:gdLst/>
              <a:ahLst/>
              <a:cxnLst/>
              <a:rect r="r" b="b" t="t" l="l"/>
              <a:pathLst>
                <a:path h="1422242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1403162"/>
                  </a:lnTo>
                  <a:cubicBezTo>
                    <a:pt x="4274726" y="1408223"/>
                    <a:pt x="4272716" y="1413076"/>
                    <a:pt x="4269137" y="1416654"/>
                  </a:cubicBezTo>
                  <a:cubicBezTo>
                    <a:pt x="4265559" y="1420232"/>
                    <a:pt x="4260706" y="1422242"/>
                    <a:pt x="4255646" y="1422242"/>
                  </a:cubicBezTo>
                  <a:lnTo>
                    <a:pt x="19080" y="1422242"/>
                  </a:lnTo>
                  <a:cubicBezTo>
                    <a:pt x="8542" y="1422242"/>
                    <a:pt x="0" y="1413700"/>
                    <a:pt x="0" y="1403162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146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835411" y="4336539"/>
            <a:ext cx="15137885" cy="1613922"/>
          </a:xfrm>
          <a:custGeom>
            <a:avLst/>
            <a:gdLst/>
            <a:ahLst/>
            <a:cxnLst/>
            <a:rect r="r" b="b" t="t" l="l"/>
            <a:pathLst>
              <a:path h="1613922" w="15137885">
                <a:moveTo>
                  <a:pt x="0" y="0"/>
                </a:moveTo>
                <a:lnTo>
                  <a:pt x="15137885" y="0"/>
                </a:lnTo>
                <a:lnTo>
                  <a:pt x="15137885" y="1613922"/>
                </a:lnTo>
                <a:lnTo>
                  <a:pt x="0" y="1613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35411" y="6490813"/>
            <a:ext cx="14535660" cy="2143580"/>
          </a:xfrm>
          <a:custGeom>
            <a:avLst/>
            <a:gdLst/>
            <a:ahLst/>
            <a:cxnLst/>
            <a:rect r="r" b="b" t="t" l="l"/>
            <a:pathLst>
              <a:path h="2143580" w="14535660">
                <a:moveTo>
                  <a:pt x="0" y="0"/>
                </a:moveTo>
                <a:lnTo>
                  <a:pt x="14535661" y="0"/>
                </a:lnTo>
                <a:lnTo>
                  <a:pt x="14535661" y="2143579"/>
                </a:lnTo>
                <a:lnTo>
                  <a:pt x="0" y="2143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80703" y="1930043"/>
            <a:ext cx="12526593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8027948" cy="8229600"/>
            <a:chOff x="0" y="0"/>
            <a:chExt cx="10703931" cy="10972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14357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211435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9231352" y="1028700"/>
            <a:ext cx="8027948" cy="8229600"/>
            <a:chOff x="0" y="0"/>
            <a:chExt cx="10703931" cy="10972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14357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211435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2420067" y="2326165"/>
            <a:ext cx="6197714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IDENTIFIED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3896" y="3778596"/>
            <a:ext cx="10903379" cy="520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1. Shallow similarity detection: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Jaccard relies on word overlap 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fails with paraphrased scams.</a:t>
            </a:r>
          </a:p>
          <a:p>
            <a:pPr algn="l">
              <a:lnSpc>
                <a:spcPts val="4199"/>
              </a:lnSpc>
            </a:pP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2. </a:t>
            </a: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Limited semantic representation: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Doc2Vec struggles with short, 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noisy reports and misses context.</a:t>
            </a:r>
          </a:p>
          <a:p>
            <a:pPr algn="l">
              <a:lnSpc>
                <a:spcPts val="4199"/>
              </a:lnSpc>
            </a:pP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3. </a:t>
            </a: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Narrative variability issue: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Semantically similar scams may 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 split into separate  clusters.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146469" y="2326165"/>
            <a:ext cx="6197714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LIMITATIONS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01728" y="3778596"/>
            <a:ext cx="7189495" cy="415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4. Assumed data trustworthiness: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Reports are trusted by default, with 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integrity, or tamper checks.</a:t>
            </a:r>
          </a:p>
          <a:p>
            <a:pPr algn="l">
              <a:lnSpc>
                <a:spcPts val="4199"/>
              </a:lnSpc>
            </a:pP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. R</a:t>
            </a:r>
            <a:r>
              <a:rPr lang="en-US" sz="2799" spc="14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isk to analysis reliability: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Manipulated or misgrouped reports 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can degrade scam scripts and threat </a:t>
            </a:r>
          </a:p>
          <a:p>
            <a:pPr algn="l">
              <a:lnSpc>
                <a:spcPts val="419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intelligence.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2696175"/>
            <a:chOff x="0" y="0"/>
            <a:chExt cx="4274726" cy="710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10104"/>
            </a:xfrm>
            <a:custGeom>
              <a:avLst/>
              <a:gdLst/>
              <a:ahLst/>
              <a:cxnLst/>
              <a:rect r="r" b="b" t="t" l="l"/>
              <a:pathLst>
                <a:path h="710104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691024"/>
                  </a:lnTo>
                  <a:cubicBezTo>
                    <a:pt x="4274726" y="696084"/>
                    <a:pt x="4272716" y="700937"/>
                    <a:pt x="4269137" y="704515"/>
                  </a:cubicBezTo>
                  <a:cubicBezTo>
                    <a:pt x="4265559" y="708093"/>
                    <a:pt x="4260706" y="710104"/>
                    <a:pt x="4255646" y="710104"/>
                  </a:cubicBezTo>
                  <a:lnTo>
                    <a:pt x="19080" y="710104"/>
                  </a:lnTo>
                  <a:cubicBezTo>
                    <a:pt x="8542" y="710104"/>
                    <a:pt x="0" y="701561"/>
                    <a:pt x="0" y="691024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74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858225"/>
            <a:ext cx="16230600" cy="5400075"/>
            <a:chOff x="0" y="0"/>
            <a:chExt cx="4274726" cy="14222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1422242"/>
            </a:xfrm>
            <a:custGeom>
              <a:avLst/>
              <a:gdLst/>
              <a:ahLst/>
              <a:cxnLst/>
              <a:rect r="r" b="b" t="t" l="l"/>
              <a:pathLst>
                <a:path h="1422242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1403162"/>
                  </a:lnTo>
                  <a:cubicBezTo>
                    <a:pt x="4274726" y="1408223"/>
                    <a:pt x="4272716" y="1413076"/>
                    <a:pt x="4269137" y="1416654"/>
                  </a:cubicBezTo>
                  <a:cubicBezTo>
                    <a:pt x="4265559" y="1420232"/>
                    <a:pt x="4260706" y="1422242"/>
                    <a:pt x="4255646" y="1422242"/>
                  </a:cubicBezTo>
                  <a:lnTo>
                    <a:pt x="19080" y="1422242"/>
                  </a:lnTo>
                  <a:cubicBezTo>
                    <a:pt x="8542" y="1422242"/>
                    <a:pt x="0" y="1413700"/>
                    <a:pt x="0" y="1403162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146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284274" y="3963883"/>
            <a:ext cx="5365095" cy="5130467"/>
          </a:xfrm>
          <a:custGeom>
            <a:avLst/>
            <a:gdLst/>
            <a:ahLst/>
            <a:cxnLst/>
            <a:rect r="r" b="b" t="t" l="l"/>
            <a:pathLst>
              <a:path h="5130467" w="5365095">
                <a:moveTo>
                  <a:pt x="0" y="0"/>
                </a:moveTo>
                <a:lnTo>
                  <a:pt x="5365096" y="0"/>
                </a:lnTo>
                <a:lnTo>
                  <a:pt x="5365096" y="5130466"/>
                </a:lnTo>
                <a:lnTo>
                  <a:pt x="0" y="5130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7" t="-14546" r="-937" b="-12239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70445" y="3858225"/>
            <a:ext cx="5636852" cy="5400075"/>
          </a:xfrm>
          <a:custGeom>
            <a:avLst/>
            <a:gdLst/>
            <a:ahLst/>
            <a:cxnLst/>
            <a:rect r="r" b="b" t="t" l="l"/>
            <a:pathLst>
              <a:path h="5400075" w="5636852">
                <a:moveTo>
                  <a:pt x="0" y="0"/>
                </a:moveTo>
                <a:lnTo>
                  <a:pt x="5636852" y="0"/>
                </a:lnTo>
                <a:lnTo>
                  <a:pt x="5636852" y="5400075"/>
                </a:lnTo>
                <a:lnTo>
                  <a:pt x="0" y="5400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748" r="0" b="-1341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80703" y="1730018"/>
            <a:ext cx="12526593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IMPROVEMENTS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2696175"/>
            <a:chOff x="0" y="0"/>
            <a:chExt cx="4274726" cy="710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10104"/>
            </a:xfrm>
            <a:custGeom>
              <a:avLst/>
              <a:gdLst/>
              <a:ahLst/>
              <a:cxnLst/>
              <a:rect r="r" b="b" t="t" l="l"/>
              <a:pathLst>
                <a:path h="710104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691024"/>
                  </a:lnTo>
                  <a:cubicBezTo>
                    <a:pt x="4274726" y="696084"/>
                    <a:pt x="4272716" y="700937"/>
                    <a:pt x="4269137" y="704515"/>
                  </a:cubicBezTo>
                  <a:cubicBezTo>
                    <a:pt x="4265559" y="708093"/>
                    <a:pt x="4260706" y="710104"/>
                    <a:pt x="4255646" y="710104"/>
                  </a:cubicBezTo>
                  <a:lnTo>
                    <a:pt x="19080" y="710104"/>
                  </a:lnTo>
                  <a:cubicBezTo>
                    <a:pt x="8542" y="710104"/>
                    <a:pt x="0" y="701561"/>
                    <a:pt x="0" y="691024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74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858225"/>
            <a:ext cx="16230600" cy="5400075"/>
            <a:chOff x="0" y="0"/>
            <a:chExt cx="4274726" cy="14222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1422242"/>
            </a:xfrm>
            <a:custGeom>
              <a:avLst/>
              <a:gdLst/>
              <a:ahLst/>
              <a:cxnLst/>
              <a:rect r="r" b="b" t="t" l="l"/>
              <a:pathLst>
                <a:path h="1422242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1403162"/>
                  </a:lnTo>
                  <a:cubicBezTo>
                    <a:pt x="4274726" y="1408223"/>
                    <a:pt x="4272716" y="1413076"/>
                    <a:pt x="4269137" y="1416654"/>
                  </a:cubicBezTo>
                  <a:cubicBezTo>
                    <a:pt x="4265559" y="1420232"/>
                    <a:pt x="4260706" y="1422242"/>
                    <a:pt x="4255646" y="1422242"/>
                  </a:cubicBezTo>
                  <a:lnTo>
                    <a:pt x="19080" y="1422242"/>
                  </a:lnTo>
                  <a:cubicBezTo>
                    <a:pt x="8542" y="1422242"/>
                    <a:pt x="0" y="1413700"/>
                    <a:pt x="0" y="1403162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146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40352" y="1901468"/>
            <a:ext cx="15407297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SECURITY IMPROVEMENTS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92312" y="4433806"/>
            <a:ext cx="13703376" cy="410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Plaint</a:t>
            </a: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ext reports → secure reports</a:t>
            </a:r>
          </a:p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Reports verified before NLP processing</a:t>
            </a:r>
          </a:p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AES-256 + RSA-OAEP hybrid encryption</a:t>
            </a:r>
          </a:p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SHA-256 + HMAC for integrity</a:t>
            </a:r>
          </a:p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RSA signatures for authentication &amp; non-repudiation</a:t>
            </a:r>
          </a:p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Timestamps + Nounce to prevent replay attacks</a:t>
            </a:r>
          </a:p>
          <a:p>
            <a:pPr algn="l" marL="604519" indent="-302260" lvl="1">
              <a:lnSpc>
                <a:spcPts val="4703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Vishing-aware IVs, payload hashing, OAEP labels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2696175"/>
            <a:chOff x="0" y="0"/>
            <a:chExt cx="4274726" cy="710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10104"/>
            </a:xfrm>
            <a:custGeom>
              <a:avLst/>
              <a:gdLst/>
              <a:ahLst/>
              <a:cxnLst/>
              <a:rect r="r" b="b" t="t" l="l"/>
              <a:pathLst>
                <a:path h="710104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691024"/>
                  </a:lnTo>
                  <a:cubicBezTo>
                    <a:pt x="4274726" y="696084"/>
                    <a:pt x="4272716" y="700937"/>
                    <a:pt x="4269137" y="704515"/>
                  </a:cubicBezTo>
                  <a:cubicBezTo>
                    <a:pt x="4265559" y="708093"/>
                    <a:pt x="4260706" y="710104"/>
                    <a:pt x="4255646" y="710104"/>
                  </a:cubicBezTo>
                  <a:lnTo>
                    <a:pt x="19080" y="710104"/>
                  </a:lnTo>
                  <a:cubicBezTo>
                    <a:pt x="8542" y="710104"/>
                    <a:pt x="0" y="701561"/>
                    <a:pt x="0" y="691024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748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858225"/>
            <a:ext cx="16230600" cy="5621496"/>
            <a:chOff x="0" y="0"/>
            <a:chExt cx="4274726" cy="1480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1480559"/>
            </a:xfrm>
            <a:custGeom>
              <a:avLst/>
              <a:gdLst/>
              <a:ahLst/>
              <a:cxnLst/>
              <a:rect r="r" b="b" t="t" l="l"/>
              <a:pathLst>
                <a:path h="1480559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1461479"/>
                  </a:lnTo>
                  <a:cubicBezTo>
                    <a:pt x="4274726" y="1466539"/>
                    <a:pt x="4272716" y="1471392"/>
                    <a:pt x="4269137" y="1474970"/>
                  </a:cubicBezTo>
                  <a:cubicBezTo>
                    <a:pt x="4265559" y="1478549"/>
                    <a:pt x="4260706" y="1480559"/>
                    <a:pt x="4255646" y="1480559"/>
                  </a:cubicBezTo>
                  <a:lnTo>
                    <a:pt x="19080" y="1480559"/>
                  </a:lnTo>
                  <a:cubicBezTo>
                    <a:pt x="8542" y="1480559"/>
                    <a:pt x="0" y="1472016"/>
                    <a:pt x="0" y="1461479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74726" cy="1518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835411" y="4270710"/>
            <a:ext cx="7449819" cy="4796526"/>
          </a:xfrm>
          <a:custGeom>
            <a:avLst/>
            <a:gdLst/>
            <a:ahLst/>
            <a:cxnLst/>
            <a:rect r="r" b="b" t="t" l="l"/>
            <a:pathLst>
              <a:path h="4796526" w="7449819">
                <a:moveTo>
                  <a:pt x="0" y="0"/>
                </a:moveTo>
                <a:lnTo>
                  <a:pt x="7449819" y="0"/>
                </a:lnTo>
                <a:lnTo>
                  <a:pt x="7449819" y="4796526"/>
                </a:lnTo>
                <a:lnTo>
                  <a:pt x="0" y="4796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62" r="-1802" b="-129213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48074" y="4049551"/>
            <a:ext cx="6651608" cy="5208749"/>
          </a:xfrm>
          <a:custGeom>
            <a:avLst/>
            <a:gdLst/>
            <a:ahLst/>
            <a:cxnLst/>
            <a:rect r="r" b="b" t="t" l="l"/>
            <a:pathLst>
              <a:path h="5208749" w="6651608">
                <a:moveTo>
                  <a:pt x="0" y="0"/>
                </a:moveTo>
                <a:lnTo>
                  <a:pt x="6651608" y="0"/>
                </a:lnTo>
                <a:lnTo>
                  <a:pt x="6651608" y="5208749"/>
                </a:lnTo>
                <a:lnTo>
                  <a:pt x="0" y="5208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353" r="-5213" b="-1018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7998" y="1451311"/>
            <a:ext cx="15407297" cy="22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SECURITY IMPROVEMENTS METHODOLOGY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7998" y="1886627"/>
            <a:ext cx="15419497" cy="6925551"/>
            <a:chOff x="0" y="0"/>
            <a:chExt cx="4061102" cy="18240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1102" cy="1824013"/>
            </a:xfrm>
            <a:custGeom>
              <a:avLst/>
              <a:gdLst/>
              <a:ahLst/>
              <a:cxnLst/>
              <a:rect r="r" b="b" t="t" l="l"/>
              <a:pathLst>
                <a:path h="1824013" w="4061102">
                  <a:moveTo>
                    <a:pt x="20083" y="0"/>
                  </a:moveTo>
                  <a:lnTo>
                    <a:pt x="4041019" y="0"/>
                  </a:lnTo>
                  <a:cubicBezTo>
                    <a:pt x="4052110" y="0"/>
                    <a:pt x="4061102" y="8992"/>
                    <a:pt x="4061102" y="20083"/>
                  </a:cubicBezTo>
                  <a:lnTo>
                    <a:pt x="4061102" y="1803930"/>
                  </a:lnTo>
                  <a:cubicBezTo>
                    <a:pt x="4061102" y="1815022"/>
                    <a:pt x="4052110" y="1824013"/>
                    <a:pt x="4041019" y="1824013"/>
                  </a:cubicBezTo>
                  <a:lnTo>
                    <a:pt x="20083" y="1824013"/>
                  </a:lnTo>
                  <a:cubicBezTo>
                    <a:pt x="8992" y="1824013"/>
                    <a:pt x="0" y="1815022"/>
                    <a:pt x="0" y="1803930"/>
                  </a:cubicBezTo>
                  <a:lnTo>
                    <a:pt x="0" y="20083"/>
                  </a:lnTo>
                  <a:cubicBezTo>
                    <a:pt x="0" y="8992"/>
                    <a:pt x="8992" y="0"/>
                    <a:pt x="2008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1102" cy="1862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Font typeface="Arial"/>
                <a:buChar char="•"/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1427998" y="3876236"/>
            <a:ext cx="1541949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9363075" y="3742184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09" y="0"/>
                </a:lnTo>
                <a:lnTo>
                  <a:pt x="197909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875713" y="3876236"/>
            <a:ext cx="6389569" cy="4935942"/>
          </a:xfrm>
          <a:custGeom>
            <a:avLst/>
            <a:gdLst/>
            <a:ahLst/>
            <a:cxnLst/>
            <a:rect r="r" b="b" t="t" l="l"/>
            <a:pathLst>
              <a:path h="4935942" w="6389569">
                <a:moveTo>
                  <a:pt x="0" y="0"/>
                </a:moveTo>
                <a:lnTo>
                  <a:pt x="6389570" y="0"/>
                </a:lnTo>
                <a:lnTo>
                  <a:pt x="6389570" y="4935942"/>
                </a:lnTo>
                <a:lnTo>
                  <a:pt x="0" y="4935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467859" y="2485595"/>
            <a:ext cx="9352282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EVALUATION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031104" y="3882282"/>
            <a:ext cx="7017646" cy="4929896"/>
          </a:xfrm>
          <a:custGeom>
            <a:avLst/>
            <a:gdLst/>
            <a:ahLst/>
            <a:cxnLst/>
            <a:rect r="r" b="b" t="t" l="l"/>
            <a:pathLst>
              <a:path h="4929896" w="7017646">
                <a:moveTo>
                  <a:pt x="0" y="0"/>
                </a:moveTo>
                <a:lnTo>
                  <a:pt x="7017646" y="0"/>
                </a:lnTo>
                <a:lnTo>
                  <a:pt x="7017646" y="4929896"/>
                </a:lnTo>
                <a:lnTo>
                  <a:pt x="0" y="4929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1352" y="1526898"/>
            <a:ext cx="8367654" cy="8229600"/>
            <a:chOff x="0" y="0"/>
            <a:chExt cx="2203827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3827" cy="2167467"/>
            </a:xfrm>
            <a:custGeom>
              <a:avLst/>
              <a:gdLst/>
              <a:ahLst/>
              <a:cxnLst/>
              <a:rect r="r" b="b" t="t" l="l"/>
              <a:pathLst>
                <a:path h="2167467" w="2203827">
                  <a:moveTo>
                    <a:pt x="37009" y="0"/>
                  </a:moveTo>
                  <a:lnTo>
                    <a:pt x="2166818" y="0"/>
                  </a:lnTo>
                  <a:cubicBezTo>
                    <a:pt x="2187257" y="0"/>
                    <a:pt x="2203827" y="16569"/>
                    <a:pt x="2203827" y="37009"/>
                  </a:cubicBezTo>
                  <a:lnTo>
                    <a:pt x="2203827" y="2130458"/>
                  </a:lnTo>
                  <a:cubicBezTo>
                    <a:pt x="2203827" y="2150897"/>
                    <a:pt x="2187257" y="2167467"/>
                    <a:pt x="2166818" y="2167467"/>
                  </a:cubicBezTo>
                  <a:lnTo>
                    <a:pt x="37009" y="2167467"/>
                  </a:lnTo>
                  <a:cubicBezTo>
                    <a:pt x="16569" y="2167467"/>
                    <a:pt x="0" y="2150897"/>
                    <a:pt x="0" y="2130458"/>
                  </a:cubicBezTo>
                  <a:lnTo>
                    <a:pt x="0" y="37009"/>
                  </a:lnTo>
                  <a:cubicBezTo>
                    <a:pt x="0" y="16569"/>
                    <a:pt x="16569" y="0"/>
                    <a:pt x="37009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382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26184" y="285750"/>
            <a:ext cx="9660929" cy="1241148"/>
            <a:chOff x="0" y="0"/>
            <a:chExt cx="2544442" cy="3268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4442" cy="326887"/>
            </a:xfrm>
            <a:custGeom>
              <a:avLst/>
              <a:gdLst/>
              <a:ahLst/>
              <a:cxnLst/>
              <a:rect r="r" b="b" t="t" l="l"/>
              <a:pathLst>
                <a:path h="326887" w="2544442">
                  <a:moveTo>
                    <a:pt x="32055" y="0"/>
                  </a:moveTo>
                  <a:lnTo>
                    <a:pt x="2512388" y="0"/>
                  </a:lnTo>
                  <a:cubicBezTo>
                    <a:pt x="2520889" y="0"/>
                    <a:pt x="2529042" y="3377"/>
                    <a:pt x="2535054" y="9389"/>
                  </a:cubicBezTo>
                  <a:cubicBezTo>
                    <a:pt x="2541065" y="15400"/>
                    <a:pt x="2544442" y="23553"/>
                    <a:pt x="2544442" y="32055"/>
                  </a:cubicBezTo>
                  <a:lnTo>
                    <a:pt x="2544442" y="294832"/>
                  </a:lnTo>
                  <a:cubicBezTo>
                    <a:pt x="2544442" y="303333"/>
                    <a:pt x="2541065" y="311487"/>
                    <a:pt x="2535054" y="317498"/>
                  </a:cubicBezTo>
                  <a:cubicBezTo>
                    <a:pt x="2529042" y="323509"/>
                    <a:pt x="2520889" y="326887"/>
                    <a:pt x="2512388" y="326887"/>
                  </a:cubicBezTo>
                  <a:lnTo>
                    <a:pt x="32055" y="326887"/>
                  </a:lnTo>
                  <a:cubicBezTo>
                    <a:pt x="23553" y="326887"/>
                    <a:pt x="15400" y="323509"/>
                    <a:pt x="9389" y="317498"/>
                  </a:cubicBezTo>
                  <a:cubicBezTo>
                    <a:pt x="3377" y="311487"/>
                    <a:pt x="0" y="303333"/>
                    <a:pt x="0" y="294832"/>
                  </a:cubicBezTo>
                  <a:lnTo>
                    <a:pt x="0" y="32055"/>
                  </a:lnTo>
                  <a:cubicBezTo>
                    <a:pt x="0" y="23553"/>
                    <a:pt x="3377" y="15400"/>
                    <a:pt x="9389" y="9389"/>
                  </a:cubicBezTo>
                  <a:cubicBezTo>
                    <a:pt x="15400" y="3377"/>
                    <a:pt x="23553" y="0"/>
                    <a:pt x="32055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4442" cy="364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995" y="1526898"/>
            <a:ext cx="8367654" cy="8229600"/>
            <a:chOff x="0" y="0"/>
            <a:chExt cx="2203827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3827" cy="2167467"/>
            </a:xfrm>
            <a:custGeom>
              <a:avLst/>
              <a:gdLst/>
              <a:ahLst/>
              <a:cxnLst/>
              <a:rect r="r" b="b" t="t" l="l"/>
              <a:pathLst>
                <a:path h="2167467" w="2203827">
                  <a:moveTo>
                    <a:pt x="37009" y="0"/>
                  </a:moveTo>
                  <a:lnTo>
                    <a:pt x="2166818" y="0"/>
                  </a:lnTo>
                  <a:cubicBezTo>
                    <a:pt x="2187257" y="0"/>
                    <a:pt x="2203827" y="16569"/>
                    <a:pt x="2203827" y="37009"/>
                  </a:cubicBezTo>
                  <a:lnTo>
                    <a:pt x="2203827" y="2130458"/>
                  </a:lnTo>
                  <a:cubicBezTo>
                    <a:pt x="2203827" y="2150897"/>
                    <a:pt x="2187257" y="2167467"/>
                    <a:pt x="2166818" y="2167467"/>
                  </a:cubicBezTo>
                  <a:lnTo>
                    <a:pt x="37009" y="2167467"/>
                  </a:lnTo>
                  <a:cubicBezTo>
                    <a:pt x="16569" y="2167467"/>
                    <a:pt x="0" y="2150897"/>
                    <a:pt x="0" y="2130458"/>
                  </a:cubicBezTo>
                  <a:lnTo>
                    <a:pt x="0" y="37009"/>
                  </a:lnTo>
                  <a:cubicBezTo>
                    <a:pt x="0" y="16569"/>
                    <a:pt x="16569" y="0"/>
                    <a:pt x="37009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03827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467859" y="381931"/>
            <a:ext cx="9352282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CASE STUDY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8637" y="3396527"/>
            <a:ext cx="8219436" cy="5800135"/>
          </a:xfrm>
          <a:custGeom>
            <a:avLst/>
            <a:gdLst/>
            <a:ahLst/>
            <a:cxnLst/>
            <a:rect r="r" b="b" t="t" l="l"/>
            <a:pathLst>
              <a:path h="5800135" w="8219436">
                <a:moveTo>
                  <a:pt x="0" y="0"/>
                </a:moveTo>
                <a:lnTo>
                  <a:pt x="8219436" y="0"/>
                </a:lnTo>
                <a:lnTo>
                  <a:pt x="8219436" y="5800135"/>
                </a:lnTo>
                <a:lnTo>
                  <a:pt x="0" y="5800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29" t="0" r="0" b="-245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68705" y="1637369"/>
            <a:ext cx="14557222" cy="1444833"/>
            <a:chOff x="0" y="0"/>
            <a:chExt cx="3834001" cy="3805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34001" cy="380532"/>
            </a:xfrm>
            <a:custGeom>
              <a:avLst/>
              <a:gdLst/>
              <a:ahLst/>
              <a:cxnLst/>
              <a:rect r="r" b="b" t="t" l="l"/>
              <a:pathLst>
                <a:path h="380532" w="3834001">
                  <a:moveTo>
                    <a:pt x="21273" y="0"/>
                  </a:moveTo>
                  <a:lnTo>
                    <a:pt x="3812728" y="0"/>
                  </a:lnTo>
                  <a:cubicBezTo>
                    <a:pt x="3824477" y="0"/>
                    <a:pt x="3834001" y="9524"/>
                    <a:pt x="3834001" y="21273"/>
                  </a:cubicBezTo>
                  <a:lnTo>
                    <a:pt x="3834001" y="359259"/>
                  </a:lnTo>
                  <a:cubicBezTo>
                    <a:pt x="3834001" y="364901"/>
                    <a:pt x="3831760" y="370312"/>
                    <a:pt x="3827770" y="374301"/>
                  </a:cubicBezTo>
                  <a:cubicBezTo>
                    <a:pt x="3823781" y="378291"/>
                    <a:pt x="3818370" y="380532"/>
                    <a:pt x="3812728" y="380532"/>
                  </a:cubicBezTo>
                  <a:lnTo>
                    <a:pt x="21273" y="380532"/>
                  </a:lnTo>
                  <a:cubicBezTo>
                    <a:pt x="15631" y="380532"/>
                    <a:pt x="10220" y="378291"/>
                    <a:pt x="6231" y="374301"/>
                  </a:cubicBezTo>
                  <a:cubicBezTo>
                    <a:pt x="2241" y="370312"/>
                    <a:pt x="0" y="364901"/>
                    <a:pt x="0" y="359259"/>
                  </a:cubicBezTo>
                  <a:lnTo>
                    <a:pt x="0" y="21273"/>
                  </a:lnTo>
                  <a:cubicBezTo>
                    <a:pt x="0" y="15631"/>
                    <a:pt x="2241" y="10220"/>
                    <a:pt x="6231" y="6231"/>
                  </a:cubicBezTo>
                  <a:cubicBezTo>
                    <a:pt x="10220" y="2241"/>
                    <a:pt x="15631" y="0"/>
                    <a:pt x="2127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34001" cy="418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05019" y="3196502"/>
            <a:ext cx="6254273" cy="6479468"/>
          </a:xfrm>
          <a:custGeom>
            <a:avLst/>
            <a:gdLst/>
            <a:ahLst/>
            <a:cxnLst/>
            <a:rect r="r" b="b" t="t" l="l"/>
            <a:pathLst>
              <a:path h="6479468" w="6254273">
                <a:moveTo>
                  <a:pt x="0" y="0"/>
                </a:moveTo>
                <a:lnTo>
                  <a:pt x="6254273" y="0"/>
                </a:lnTo>
                <a:lnTo>
                  <a:pt x="6254273" y="6479468"/>
                </a:lnTo>
                <a:lnTo>
                  <a:pt x="0" y="6479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51931" y="1842895"/>
            <a:ext cx="1379077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received a scam call. It was an automated voice from the Singapore High Court,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    stating that I have an outstanding summon. I was asked to pay it.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8904" y="158094"/>
            <a:ext cx="11307442" cy="1241148"/>
            <a:chOff x="0" y="0"/>
            <a:chExt cx="2978092" cy="326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78092" cy="326887"/>
            </a:xfrm>
            <a:custGeom>
              <a:avLst/>
              <a:gdLst/>
              <a:ahLst/>
              <a:cxnLst/>
              <a:rect r="r" b="b" t="t" l="l"/>
              <a:pathLst>
                <a:path h="326887" w="2978092">
                  <a:moveTo>
                    <a:pt x="27387" y="0"/>
                  </a:moveTo>
                  <a:lnTo>
                    <a:pt x="2950705" y="0"/>
                  </a:lnTo>
                  <a:cubicBezTo>
                    <a:pt x="2965830" y="0"/>
                    <a:pt x="2978092" y="12262"/>
                    <a:pt x="2978092" y="27387"/>
                  </a:cubicBezTo>
                  <a:lnTo>
                    <a:pt x="2978092" y="299500"/>
                  </a:lnTo>
                  <a:cubicBezTo>
                    <a:pt x="2978092" y="314625"/>
                    <a:pt x="2965830" y="326887"/>
                    <a:pt x="2950705" y="326887"/>
                  </a:cubicBezTo>
                  <a:lnTo>
                    <a:pt x="27387" y="326887"/>
                  </a:lnTo>
                  <a:cubicBezTo>
                    <a:pt x="12262" y="326887"/>
                    <a:pt x="0" y="314625"/>
                    <a:pt x="0" y="299500"/>
                  </a:cubicBezTo>
                  <a:lnTo>
                    <a:pt x="0" y="27387"/>
                  </a:lnTo>
                  <a:cubicBezTo>
                    <a:pt x="0" y="12262"/>
                    <a:pt x="12262" y="0"/>
                    <a:pt x="27387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78092" cy="364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526898"/>
            <a:ext cx="8027948" cy="8229600"/>
            <a:chOff x="0" y="0"/>
            <a:chExt cx="10703931" cy="109728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14357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211435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231352" y="1526898"/>
            <a:ext cx="8027948" cy="8229600"/>
            <a:chOff x="0" y="0"/>
            <a:chExt cx="10703931" cy="109728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703931" cy="10972800"/>
              <a:chOff x="0" y="0"/>
              <a:chExt cx="2114357" cy="216746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14357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2114357">
                    <a:moveTo>
                      <a:pt x="38575" y="0"/>
                    </a:moveTo>
                    <a:lnTo>
                      <a:pt x="2075782" y="0"/>
                    </a:lnTo>
                    <a:cubicBezTo>
                      <a:pt x="2086013" y="0"/>
                      <a:pt x="2095824" y="4064"/>
                      <a:pt x="2103058" y="11298"/>
                    </a:cubicBezTo>
                    <a:cubicBezTo>
                      <a:pt x="2110293" y="18532"/>
                      <a:pt x="2114357" y="28344"/>
                      <a:pt x="2114357" y="38575"/>
                    </a:cubicBezTo>
                    <a:lnTo>
                      <a:pt x="2114357" y="2128892"/>
                    </a:lnTo>
                    <a:cubicBezTo>
                      <a:pt x="2114357" y="2139123"/>
                      <a:pt x="2110293" y="2148934"/>
                      <a:pt x="2103058" y="2156168"/>
                    </a:cubicBezTo>
                    <a:cubicBezTo>
                      <a:pt x="2095824" y="2163403"/>
                      <a:pt x="2086013" y="2167467"/>
                      <a:pt x="2075782" y="2167467"/>
                    </a:cubicBezTo>
                    <a:lnTo>
                      <a:pt x="38575" y="2167467"/>
                    </a:lnTo>
                    <a:cubicBezTo>
                      <a:pt x="28344" y="2167467"/>
                      <a:pt x="18532" y="2163403"/>
                      <a:pt x="11298" y="2156168"/>
                    </a:cubicBezTo>
                    <a:cubicBezTo>
                      <a:pt x="4064" y="2148934"/>
                      <a:pt x="0" y="2139123"/>
                      <a:pt x="0" y="2128892"/>
                    </a:cubicBezTo>
                    <a:lnTo>
                      <a:pt x="0" y="38575"/>
                    </a:lnTo>
                    <a:cubicBezTo>
                      <a:pt x="0" y="28344"/>
                      <a:pt x="4064" y="18532"/>
                      <a:pt x="11298" y="11298"/>
                    </a:cubicBezTo>
                    <a:cubicBezTo>
                      <a:pt x="18532" y="4064"/>
                      <a:pt x="28344" y="0"/>
                      <a:pt x="38575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114357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1205886" y="3682367"/>
            <a:ext cx="7701753" cy="5549825"/>
          </a:xfrm>
          <a:custGeom>
            <a:avLst/>
            <a:gdLst/>
            <a:ahLst/>
            <a:cxnLst/>
            <a:rect r="r" b="b" t="t" l="l"/>
            <a:pathLst>
              <a:path h="5549825" w="7701753">
                <a:moveTo>
                  <a:pt x="0" y="0"/>
                </a:moveTo>
                <a:lnTo>
                  <a:pt x="7701752" y="0"/>
                </a:lnTo>
                <a:lnTo>
                  <a:pt x="7701752" y="5549824"/>
                </a:lnTo>
                <a:lnTo>
                  <a:pt x="0" y="554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065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436713" y="3682367"/>
            <a:ext cx="7645401" cy="5549825"/>
          </a:xfrm>
          <a:custGeom>
            <a:avLst/>
            <a:gdLst/>
            <a:ahLst/>
            <a:cxnLst/>
            <a:rect r="r" b="b" t="t" l="l"/>
            <a:pathLst>
              <a:path h="5549825" w="7645401">
                <a:moveTo>
                  <a:pt x="0" y="0"/>
                </a:moveTo>
                <a:lnTo>
                  <a:pt x="7645401" y="0"/>
                </a:lnTo>
                <a:lnTo>
                  <a:pt x="7645401" y="5549824"/>
                </a:lnTo>
                <a:lnTo>
                  <a:pt x="0" y="554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359056" y="2426929"/>
            <a:ext cx="5867338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TAMPERING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62708" y="2426929"/>
            <a:ext cx="3865337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REPLAY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67557" y="271460"/>
            <a:ext cx="10710135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TAMPERING &amp; REPLAY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148387"/>
                  </a:lnTo>
                  <a:cubicBezTo>
                    <a:pt x="4274726" y="2158924"/>
                    <a:pt x="4266183" y="2167467"/>
                    <a:pt x="4255646" y="2167467"/>
                  </a:cubicBezTo>
                  <a:lnTo>
                    <a:pt x="19080" y="2167467"/>
                  </a:lnTo>
                  <a:cubicBezTo>
                    <a:pt x="8542" y="2167467"/>
                    <a:pt x="0" y="2158924"/>
                    <a:pt x="0" y="214838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7998" y="1347066"/>
            <a:ext cx="284690" cy="2846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5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5411" y="1347066"/>
            <a:ext cx="284690" cy="2846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9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43926" y="1347066"/>
            <a:ext cx="284690" cy="28469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F85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87657" y="1848890"/>
            <a:ext cx="6285793" cy="7050577"/>
            <a:chOff x="0" y="0"/>
            <a:chExt cx="1655518" cy="18569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5518" cy="1856942"/>
            </a:xfrm>
            <a:custGeom>
              <a:avLst/>
              <a:gdLst/>
              <a:ahLst/>
              <a:cxnLst/>
              <a:rect r="r" b="b" t="t" l="l"/>
              <a:pathLst>
                <a:path h="1856942" w="1655518">
                  <a:moveTo>
                    <a:pt x="49266" y="0"/>
                  </a:moveTo>
                  <a:lnTo>
                    <a:pt x="1606251" y="0"/>
                  </a:lnTo>
                  <a:cubicBezTo>
                    <a:pt x="1619318" y="0"/>
                    <a:pt x="1631849" y="5191"/>
                    <a:pt x="1641088" y="14430"/>
                  </a:cubicBezTo>
                  <a:cubicBezTo>
                    <a:pt x="1650327" y="23669"/>
                    <a:pt x="1655518" y="36200"/>
                    <a:pt x="1655518" y="49266"/>
                  </a:cubicBezTo>
                  <a:lnTo>
                    <a:pt x="1655518" y="1807676"/>
                  </a:lnTo>
                  <a:cubicBezTo>
                    <a:pt x="1655518" y="1820742"/>
                    <a:pt x="1650327" y="1833273"/>
                    <a:pt x="1641088" y="1842512"/>
                  </a:cubicBezTo>
                  <a:cubicBezTo>
                    <a:pt x="1631849" y="1851751"/>
                    <a:pt x="1619318" y="1856942"/>
                    <a:pt x="1606251" y="1856942"/>
                  </a:cubicBezTo>
                  <a:lnTo>
                    <a:pt x="49266" y="1856942"/>
                  </a:lnTo>
                  <a:cubicBezTo>
                    <a:pt x="36200" y="1856942"/>
                    <a:pt x="23669" y="1851751"/>
                    <a:pt x="14430" y="1842512"/>
                  </a:cubicBezTo>
                  <a:cubicBezTo>
                    <a:pt x="5191" y="1833273"/>
                    <a:pt x="0" y="1820742"/>
                    <a:pt x="0" y="1807676"/>
                  </a:cubicBezTo>
                  <a:lnTo>
                    <a:pt x="0" y="49266"/>
                  </a:lnTo>
                  <a:cubicBezTo>
                    <a:pt x="0" y="36200"/>
                    <a:pt x="5191" y="23669"/>
                    <a:pt x="14430" y="14430"/>
                  </a:cubicBezTo>
                  <a:cubicBezTo>
                    <a:pt x="23669" y="5191"/>
                    <a:pt x="36200" y="0"/>
                    <a:pt x="4926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55518" cy="1895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688274" y="1996889"/>
            <a:ext cx="836816" cy="83681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6149870" y="8045293"/>
            <a:ext cx="570896" cy="754668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102094" y="2425918"/>
            <a:ext cx="5256920" cy="5896521"/>
            <a:chOff x="0" y="0"/>
            <a:chExt cx="1384539" cy="15529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4539" cy="1552993"/>
            </a:xfrm>
            <a:custGeom>
              <a:avLst/>
              <a:gdLst/>
              <a:ahLst/>
              <a:cxnLst/>
              <a:rect r="r" b="b" t="t" l="l"/>
              <a:pathLst>
                <a:path h="1552993" w="1384539">
                  <a:moveTo>
                    <a:pt x="58908" y="0"/>
                  </a:moveTo>
                  <a:lnTo>
                    <a:pt x="1325630" y="0"/>
                  </a:lnTo>
                  <a:cubicBezTo>
                    <a:pt x="1341254" y="0"/>
                    <a:pt x="1356237" y="6206"/>
                    <a:pt x="1367285" y="17254"/>
                  </a:cubicBezTo>
                  <a:cubicBezTo>
                    <a:pt x="1378332" y="28301"/>
                    <a:pt x="1384539" y="43285"/>
                    <a:pt x="1384539" y="58908"/>
                  </a:cubicBezTo>
                  <a:lnTo>
                    <a:pt x="1384539" y="1494085"/>
                  </a:lnTo>
                  <a:cubicBezTo>
                    <a:pt x="1384539" y="1509708"/>
                    <a:pt x="1378332" y="1524692"/>
                    <a:pt x="1367285" y="1535739"/>
                  </a:cubicBezTo>
                  <a:cubicBezTo>
                    <a:pt x="1356237" y="1546787"/>
                    <a:pt x="1341254" y="1552993"/>
                    <a:pt x="1325630" y="1552993"/>
                  </a:cubicBezTo>
                  <a:lnTo>
                    <a:pt x="58908" y="1552993"/>
                  </a:lnTo>
                  <a:cubicBezTo>
                    <a:pt x="26374" y="1552993"/>
                    <a:pt x="0" y="1526619"/>
                    <a:pt x="0" y="1494085"/>
                  </a:cubicBezTo>
                  <a:lnTo>
                    <a:pt x="0" y="58908"/>
                  </a:lnTo>
                  <a:cubicBezTo>
                    <a:pt x="0" y="43285"/>
                    <a:pt x="6206" y="28301"/>
                    <a:pt x="17254" y="17254"/>
                  </a:cubicBezTo>
                  <a:cubicBezTo>
                    <a:pt x="28301" y="6206"/>
                    <a:pt x="43285" y="0"/>
                    <a:pt x="5890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84539" cy="1591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095412" y="2833705"/>
            <a:ext cx="3270282" cy="5080947"/>
          </a:xfrm>
          <a:custGeom>
            <a:avLst/>
            <a:gdLst/>
            <a:ahLst/>
            <a:cxnLst/>
            <a:rect r="r" b="b" t="t" l="l"/>
            <a:pathLst>
              <a:path h="5080947" w="3270282">
                <a:moveTo>
                  <a:pt x="0" y="0"/>
                </a:moveTo>
                <a:lnTo>
                  <a:pt x="3270283" y="0"/>
                </a:lnTo>
                <a:lnTo>
                  <a:pt x="3270283" y="5080947"/>
                </a:lnTo>
                <a:lnTo>
                  <a:pt x="0" y="5080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977756" y="2488419"/>
            <a:ext cx="8047926" cy="125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9"/>
              </a:lnSpc>
            </a:pPr>
            <a:r>
              <a:rPr lang="en-US" b="true" sz="804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5411" y="4996097"/>
            <a:ext cx="9601675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Successfully reproduced an NLP-based </a:t>
            </a:r>
          </a:p>
          <a:p>
            <a:pPr algn="l">
              <a:lnSpc>
                <a:spcPts val="391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scam analysis system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Improved semantic similarity using </a:t>
            </a:r>
          </a:p>
          <a:p>
            <a:pPr algn="l">
              <a:lnSpc>
                <a:spcPts val="391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sentence-transformer embeddings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Ensured trusted input through secure </a:t>
            </a:r>
          </a:p>
          <a:p>
            <a:pPr algn="l">
              <a:lnSpc>
                <a:spcPts val="3919"/>
              </a:lnSpc>
            </a:pP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2799" spc="14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report transmission and verification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536243" y="3985044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09" y="0"/>
                </a:lnTo>
                <a:lnTo>
                  <a:pt x="197909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1028700" y="4128621"/>
            <a:ext cx="955895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977756" y="3985044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09" y="0"/>
                </a:lnTo>
                <a:lnTo>
                  <a:pt x="197909" y="268103"/>
                </a:lnTo>
                <a:lnTo>
                  <a:pt x="0" y="26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21640800" cy="10972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640800" cy="10972800"/>
              <a:chOff x="0" y="0"/>
              <a:chExt cx="4274726" cy="216746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74726" cy="2167467"/>
              </a:xfrm>
              <a:custGeom>
                <a:avLst/>
                <a:gdLst/>
                <a:ahLst/>
                <a:cxnLst/>
                <a:rect r="r" b="b" t="t" l="l"/>
                <a:pathLst>
                  <a:path h="2167467" w="4274726">
                    <a:moveTo>
                      <a:pt x="19080" y="0"/>
                    </a:moveTo>
                    <a:lnTo>
                      <a:pt x="4255646" y="0"/>
                    </a:lnTo>
                    <a:cubicBezTo>
                      <a:pt x="4266183" y="0"/>
                      <a:pt x="4274726" y="8542"/>
                      <a:pt x="4274726" y="19080"/>
                    </a:cubicBezTo>
                    <a:lnTo>
                      <a:pt x="4274726" y="2148387"/>
                    </a:lnTo>
                    <a:cubicBezTo>
                      <a:pt x="4274726" y="2158924"/>
                      <a:pt x="4266183" y="2167467"/>
                      <a:pt x="4255646" y="2167467"/>
                    </a:cubicBezTo>
                    <a:lnTo>
                      <a:pt x="19080" y="2167467"/>
                    </a:lnTo>
                    <a:cubicBezTo>
                      <a:pt x="8542" y="2167467"/>
                      <a:pt x="0" y="2158924"/>
                      <a:pt x="0" y="2148387"/>
                    </a:cubicBezTo>
                    <a:lnTo>
                      <a:pt x="0" y="19080"/>
                    </a:lnTo>
                    <a:cubicBezTo>
                      <a:pt x="0" y="8542"/>
                      <a:pt x="8542" y="0"/>
                      <a:pt x="19080" y="0"/>
                    </a:cubicBezTo>
                    <a:close/>
                  </a:path>
                </a:pathLst>
              </a:custGeom>
              <a:solidFill>
                <a:srgbClr val="F4F8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532397" y="424488"/>
              <a:ext cx="379586" cy="37958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5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075615" y="424488"/>
              <a:ext cx="379586" cy="37958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C9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20301" y="424488"/>
              <a:ext cx="379586" cy="37958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CF854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3352126" y="3181248"/>
            <a:ext cx="3656989" cy="5855968"/>
            <a:chOff x="0" y="0"/>
            <a:chExt cx="963158" cy="15423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3158" cy="1542313"/>
            </a:xfrm>
            <a:custGeom>
              <a:avLst/>
              <a:gdLst/>
              <a:ahLst/>
              <a:cxnLst/>
              <a:rect r="r" b="b" t="t" l="l"/>
              <a:pathLst>
                <a:path h="1542313" w="963158">
                  <a:moveTo>
                    <a:pt x="76213" y="0"/>
                  </a:moveTo>
                  <a:lnTo>
                    <a:pt x="886945" y="0"/>
                  </a:lnTo>
                  <a:cubicBezTo>
                    <a:pt x="929036" y="0"/>
                    <a:pt x="963158" y="34122"/>
                    <a:pt x="963158" y="76213"/>
                  </a:cubicBezTo>
                  <a:lnTo>
                    <a:pt x="963158" y="1466100"/>
                  </a:lnTo>
                  <a:cubicBezTo>
                    <a:pt x="963158" y="1486313"/>
                    <a:pt x="955128" y="1505698"/>
                    <a:pt x="940835" y="1519990"/>
                  </a:cubicBezTo>
                  <a:cubicBezTo>
                    <a:pt x="926543" y="1534283"/>
                    <a:pt x="907158" y="1542313"/>
                    <a:pt x="886945" y="1542313"/>
                  </a:cubicBezTo>
                  <a:lnTo>
                    <a:pt x="76213" y="1542313"/>
                  </a:lnTo>
                  <a:cubicBezTo>
                    <a:pt x="34122" y="1542313"/>
                    <a:pt x="0" y="1508191"/>
                    <a:pt x="0" y="1466100"/>
                  </a:cubicBezTo>
                  <a:lnTo>
                    <a:pt x="0" y="76213"/>
                  </a:lnTo>
                  <a:cubicBezTo>
                    <a:pt x="0" y="56000"/>
                    <a:pt x="8030" y="36615"/>
                    <a:pt x="22322" y="22322"/>
                  </a:cubicBezTo>
                  <a:cubicBezTo>
                    <a:pt x="36615" y="8030"/>
                    <a:pt x="56000" y="0"/>
                    <a:pt x="7621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3158" cy="1580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3441" y="3181248"/>
            <a:ext cx="11843766" cy="3584382"/>
            <a:chOff x="0" y="0"/>
            <a:chExt cx="3119346" cy="9440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9346" cy="944035"/>
            </a:xfrm>
            <a:custGeom>
              <a:avLst/>
              <a:gdLst/>
              <a:ahLst/>
              <a:cxnLst/>
              <a:rect r="r" b="b" t="t" l="l"/>
              <a:pathLst>
                <a:path h="944035" w="3119346">
                  <a:moveTo>
                    <a:pt x="26147" y="0"/>
                  </a:moveTo>
                  <a:lnTo>
                    <a:pt x="3093199" y="0"/>
                  </a:lnTo>
                  <a:cubicBezTo>
                    <a:pt x="3107640" y="0"/>
                    <a:pt x="3119346" y="11706"/>
                    <a:pt x="3119346" y="26147"/>
                  </a:cubicBezTo>
                  <a:lnTo>
                    <a:pt x="3119346" y="917888"/>
                  </a:lnTo>
                  <a:cubicBezTo>
                    <a:pt x="3119346" y="932328"/>
                    <a:pt x="3107640" y="944035"/>
                    <a:pt x="3093199" y="944035"/>
                  </a:cubicBezTo>
                  <a:lnTo>
                    <a:pt x="26147" y="944035"/>
                  </a:lnTo>
                  <a:cubicBezTo>
                    <a:pt x="11706" y="944035"/>
                    <a:pt x="0" y="932328"/>
                    <a:pt x="0" y="917888"/>
                  </a:cubicBezTo>
                  <a:lnTo>
                    <a:pt x="0" y="26147"/>
                  </a:lnTo>
                  <a:cubicBezTo>
                    <a:pt x="0" y="11706"/>
                    <a:pt x="11706" y="0"/>
                    <a:pt x="26147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19346" cy="98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3441" y="6934783"/>
            <a:ext cx="11843766" cy="1023380"/>
            <a:chOff x="0" y="0"/>
            <a:chExt cx="3119346" cy="2695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19346" cy="269532"/>
            </a:xfrm>
            <a:custGeom>
              <a:avLst/>
              <a:gdLst/>
              <a:ahLst/>
              <a:cxnLst/>
              <a:rect r="r" b="b" t="t" l="l"/>
              <a:pathLst>
                <a:path h="269532" w="3119346">
                  <a:moveTo>
                    <a:pt x="18956" y="0"/>
                  </a:moveTo>
                  <a:lnTo>
                    <a:pt x="3100389" y="0"/>
                  </a:lnTo>
                  <a:cubicBezTo>
                    <a:pt x="3105417" y="0"/>
                    <a:pt x="3110239" y="1997"/>
                    <a:pt x="3113794" y="5552"/>
                  </a:cubicBezTo>
                  <a:cubicBezTo>
                    <a:pt x="3117349" y="9107"/>
                    <a:pt x="3119346" y="13929"/>
                    <a:pt x="3119346" y="18956"/>
                  </a:cubicBezTo>
                  <a:lnTo>
                    <a:pt x="3119346" y="250576"/>
                  </a:lnTo>
                  <a:cubicBezTo>
                    <a:pt x="3119346" y="255603"/>
                    <a:pt x="3117349" y="260425"/>
                    <a:pt x="3113794" y="263980"/>
                  </a:cubicBezTo>
                  <a:cubicBezTo>
                    <a:pt x="3110239" y="267535"/>
                    <a:pt x="3105417" y="269532"/>
                    <a:pt x="3100389" y="269532"/>
                  </a:cubicBezTo>
                  <a:lnTo>
                    <a:pt x="18956" y="269532"/>
                  </a:lnTo>
                  <a:cubicBezTo>
                    <a:pt x="13929" y="269532"/>
                    <a:pt x="9107" y="267535"/>
                    <a:pt x="5552" y="263980"/>
                  </a:cubicBezTo>
                  <a:cubicBezTo>
                    <a:pt x="1997" y="260425"/>
                    <a:pt x="0" y="255603"/>
                    <a:pt x="0" y="250576"/>
                  </a:cubicBezTo>
                  <a:lnTo>
                    <a:pt x="0" y="18956"/>
                  </a:lnTo>
                  <a:cubicBezTo>
                    <a:pt x="0" y="13929"/>
                    <a:pt x="1997" y="9107"/>
                    <a:pt x="5552" y="5552"/>
                  </a:cubicBezTo>
                  <a:cubicBezTo>
                    <a:pt x="9107" y="1997"/>
                    <a:pt x="13929" y="0"/>
                    <a:pt x="18956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119346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3441" y="8129612"/>
            <a:ext cx="2932574" cy="621151"/>
            <a:chOff x="0" y="0"/>
            <a:chExt cx="772365" cy="1635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2365" cy="163595"/>
            </a:xfrm>
            <a:custGeom>
              <a:avLst/>
              <a:gdLst/>
              <a:ahLst/>
              <a:cxnLst/>
              <a:rect r="r" b="b" t="t" l="l"/>
              <a:pathLst>
                <a:path h="163595" w="772365">
                  <a:moveTo>
                    <a:pt x="44880" y="0"/>
                  </a:moveTo>
                  <a:lnTo>
                    <a:pt x="727486" y="0"/>
                  </a:lnTo>
                  <a:cubicBezTo>
                    <a:pt x="739388" y="0"/>
                    <a:pt x="750804" y="4728"/>
                    <a:pt x="759220" y="13145"/>
                  </a:cubicBezTo>
                  <a:cubicBezTo>
                    <a:pt x="767637" y="21561"/>
                    <a:pt x="772365" y="32977"/>
                    <a:pt x="772365" y="44880"/>
                  </a:cubicBezTo>
                  <a:lnTo>
                    <a:pt x="772365" y="118716"/>
                  </a:lnTo>
                  <a:cubicBezTo>
                    <a:pt x="772365" y="130618"/>
                    <a:pt x="767637" y="142034"/>
                    <a:pt x="759220" y="150450"/>
                  </a:cubicBezTo>
                  <a:cubicBezTo>
                    <a:pt x="750804" y="158867"/>
                    <a:pt x="739388" y="163595"/>
                    <a:pt x="727486" y="163595"/>
                  </a:cubicBezTo>
                  <a:lnTo>
                    <a:pt x="44880" y="163595"/>
                  </a:lnTo>
                  <a:cubicBezTo>
                    <a:pt x="32977" y="163595"/>
                    <a:pt x="21561" y="158867"/>
                    <a:pt x="13145" y="150450"/>
                  </a:cubicBezTo>
                  <a:cubicBezTo>
                    <a:pt x="4728" y="142034"/>
                    <a:pt x="0" y="130618"/>
                    <a:pt x="0" y="118716"/>
                  </a:cubicBezTo>
                  <a:lnTo>
                    <a:pt x="0" y="44880"/>
                  </a:lnTo>
                  <a:cubicBezTo>
                    <a:pt x="0" y="32977"/>
                    <a:pt x="4728" y="21561"/>
                    <a:pt x="13145" y="13145"/>
                  </a:cubicBezTo>
                  <a:cubicBezTo>
                    <a:pt x="21561" y="4728"/>
                    <a:pt x="32977" y="0"/>
                    <a:pt x="448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72365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64634" y="8129612"/>
            <a:ext cx="2932574" cy="621151"/>
            <a:chOff x="0" y="0"/>
            <a:chExt cx="772365" cy="1635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2365" cy="163595"/>
            </a:xfrm>
            <a:custGeom>
              <a:avLst/>
              <a:gdLst/>
              <a:ahLst/>
              <a:cxnLst/>
              <a:rect r="r" b="b" t="t" l="l"/>
              <a:pathLst>
                <a:path h="163595" w="772365">
                  <a:moveTo>
                    <a:pt x="44880" y="0"/>
                  </a:moveTo>
                  <a:lnTo>
                    <a:pt x="727486" y="0"/>
                  </a:lnTo>
                  <a:cubicBezTo>
                    <a:pt x="739388" y="0"/>
                    <a:pt x="750804" y="4728"/>
                    <a:pt x="759220" y="13145"/>
                  </a:cubicBezTo>
                  <a:cubicBezTo>
                    <a:pt x="767637" y="21561"/>
                    <a:pt x="772365" y="32977"/>
                    <a:pt x="772365" y="44880"/>
                  </a:cubicBezTo>
                  <a:lnTo>
                    <a:pt x="772365" y="118716"/>
                  </a:lnTo>
                  <a:cubicBezTo>
                    <a:pt x="772365" y="130618"/>
                    <a:pt x="767637" y="142034"/>
                    <a:pt x="759220" y="150450"/>
                  </a:cubicBezTo>
                  <a:cubicBezTo>
                    <a:pt x="750804" y="158867"/>
                    <a:pt x="739388" y="163595"/>
                    <a:pt x="727486" y="163595"/>
                  </a:cubicBezTo>
                  <a:lnTo>
                    <a:pt x="44880" y="163595"/>
                  </a:lnTo>
                  <a:cubicBezTo>
                    <a:pt x="32977" y="163595"/>
                    <a:pt x="21561" y="158867"/>
                    <a:pt x="13145" y="150450"/>
                  </a:cubicBezTo>
                  <a:cubicBezTo>
                    <a:pt x="4728" y="142034"/>
                    <a:pt x="0" y="130618"/>
                    <a:pt x="0" y="118716"/>
                  </a:cubicBezTo>
                  <a:lnTo>
                    <a:pt x="0" y="44880"/>
                  </a:lnTo>
                  <a:cubicBezTo>
                    <a:pt x="0" y="32977"/>
                    <a:pt x="4728" y="21561"/>
                    <a:pt x="13145" y="13145"/>
                  </a:cubicBezTo>
                  <a:cubicBezTo>
                    <a:pt x="21561" y="4728"/>
                    <a:pt x="32977" y="0"/>
                    <a:pt x="44880" y="0"/>
                  </a:cubicBezTo>
                  <a:close/>
                </a:path>
              </a:pathLst>
            </a:custGeom>
            <a:solidFill>
              <a:srgbClr val="F4F8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72365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4781807" y="8788863"/>
            <a:ext cx="816678" cy="0"/>
          </a:xfrm>
          <a:prstGeom prst="line">
            <a:avLst/>
          </a:prstGeom>
          <a:ln cap="rnd" w="38100">
            <a:solidFill>
              <a:srgbClr val="F4F8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7265466" y="8306136"/>
            <a:ext cx="197909" cy="268103"/>
          </a:xfrm>
          <a:custGeom>
            <a:avLst/>
            <a:gdLst/>
            <a:ahLst/>
            <a:cxnLst/>
            <a:rect r="r" b="b" t="t" l="l"/>
            <a:pathLst>
              <a:path h="268103" w="197909">
                <a:moveTo>
                  <a:pt x="0" y="0"/>
                </a:moveTo>
                <a:lnTo>
                  <a:pt x="197909" y="0"/>
                </a:lnTo>
                <a:lnTo>
                  <a:pt x="197909" y="268104"/>
                </a:lnTo>
                <a:lnTo>
                  <a:pt x="0" y="268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2" id="32"/>
          <p:cNvSpPr/>
          <p:nvPr/>
        </p:nvSpPr>
        <p:spPr>
          <a:xfrm>
            <a:off x="4286015" y="8459238"/>
            <a:ext cx="5978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353441" y="1875260"/>
            <a:ext cx="15581117" cy="1134538"/>
            <a:chOff x="0" y="0"/>
            <a:chExt cx="4103669" cy="2988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03669" cy="298808"/>
            </a:xfrm>
            <a:custGeom>
              <a:avLst/>
              <a:gdLst/>
              <a:ahLst/>
              <a:cxnLst/>
              <a:rect r="r" b="b" t="t" l="l"/>
              <a:pathLst>
                <a:path h="298808" w="4103669">
                  <a:moveTo>
                    <a:pt x="18385" y="0"/>
                  </a:moveTo>
                  <a:lnTo>
                    <a:pt x="4085284" y="0"/>
                  </a:lnTo>
                  <a:cubicBezTo>
                    <a:pt x="4090160" y="0"/>
                    <a:pt x="4094836" y="1937"/>
                    <a:pt x="4098284" y="5385"/>
                  </a:cubicBezTo>
                  <a:cubicBezTo>
                    <a:pt x="4101732" y="8832"/>
                    <a:pt x="4103669" y="13509"/>
                    <a:pt x="4103669" y="18385"/>
                  </a:cubicBezTo>
                  <a:lnTo>
                    <a:pt x="4103669" y="280424"/>
                  </a:lnTo>
                  <a:cubicBezTo>
                    <a:pt x="4103669" y="285300"/>
                    <a:pt x="4101732" y="289976"/>
                    <a:pt x="4098284" y="293424"/>
                  </a:cubicBezTo>
                  <a:cubicBezTo>
                    <a:pt x="4094836" y="296872"/>
                    <a:pt x="4090160" y="298808"/>
                    <a:pt x="4085284" y="298808"/>
                  </a:cubicBezTo>
                  <a:lnTo>
                    <a:pt x="18385" y="298808"/>
                  </a:lnTo>
                  <a:cubicBezTo>
                    <a:pt x="8231" y="298808"/>
                    <a:pt x="0" y="290577"/>
                    <a:pt x="0" y="280424"/>
                  </a:cubicBezTo>
                  <a:lnTo>
                    <a:pt x="0" y="18385"/>
                  </a:lnTo>
                  <a:cubicBezTo>
                    <a:pt x="0" y="13509"/>
                    <a:pt x="1937" y="8832"/>
                    <a:pt x="5385" y="5385"/>
                  </a:cubicBezTo>
                  <a:cubicBezTo>
                    <a:pt x="8832" y="1937"/>
                    <a:pt x="13509" y="0"/>
                    <a:pt x="18385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03669" cy="33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38780" y="2121947"/>
            <a:ext cx="1685076" cy="621151"/>
            <a:chOff x="0" y="0"/>
            <a:chExt cx="443806" cy="1635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Cyber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825037" y="2112422"/>
            <a:ext cx="1685076" cy="621151"/>
            <a:chOff x="0" y="0"/>
            <a:chExt cx="443806" cy="1635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Protect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14888" y="2112422"/>
            <a:ext cx="1685076" cy="621151"/>
            <a:chOff x="0" y="0"/>
            <a:chExt cx="443806" cy="1635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Data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404739" y="2131954"/>
            <a:ext cx="1685076" cy="621151"/>
            <a:chOff x="0" y="0"/>
            <a:chExt cx="443806" cy="1635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Threat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94591" y="2131954"/>
            <a:ext cx="1685076" cy="621151"/>
            <a:chOff x="0" y="0"/>
            <a:chExt cx="443806" cy="1635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Security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84442" y="2112422"/>
            <a:ext cx="1685076" cy="621151"/>
            <a:chOff x="0" y="0"/>
            <a:chExt cx="443806" cy="16359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Attack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74293" y="2131954"/>
            <a:ext cx="1685076" cy="621151"/>
            <a:chOff x="0" y="0"/>
            <a:chExt cx="443806" cy="16359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545BF8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4F8FF"/>
                  </a:solidFill>
                  <a:latin typeface="Inter"/>
                  <a:ea typeface="Inter"/>
                  <a:cs typeface="Inter"/>
                  <a:sym typeface="Inter"/>
                </a:rPr>
                <a:t>Firewall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732073" y="3621279"/>
            <a:ext cx="2897094" cy="4975906"/>
            <a:chOff x="0" y="0"/>
            <a:chExt cx="763021" cy="131052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3021" cy="1310527"/>
            </a:xfrm>
            <a:custGeom>
              <a:avLst/>
              <a:gdLst/>
              <a:ahLst/>
              <a:cxnLst/>
              <a:rect r="r" b="b" t="t" l="l"/>
              <a:pathLst>
                <a:path h="1310527" w="763021">
                  <a:moveTo>
                    <a:pt x="96203" y="0"/>
                  </a:moveTo>
                  <a:lnTo>
                    <a:pt x="666818" y="0"/>
                  </a:lnTo>
                  <a:cubicBezTo>
                    <a:pt x="692332" y="0"/>
                    <a:pt x="716802" y="10136"/>
                    <a:pt x="734844" y="28177"/>
                  </a:cubicBezTo>
                  <a:cubicBezTo>
                    <a:pt x="752885" y="46219"/>
                    <a:pt x="763021" y="70688"/>
                    <a:pt x="763021" y="96203"/>
                  </a:cubicBezTo>
                  <a:lnTo>
                    <a:pt x="763021" y="1214324"/>
                  </a:lnTo>
                  <a:cubicBezTo>
                    <a:pt x="763021" y="1267455"/>
                    <a:pt x="719949" y="1310527"/>
                    <a:pt x="666818" y="1310527"/>
                  </a:cubicBezTo>
                  <a:lnTo>
                    <a:pt x="96203" y="1310527"/>
                  </a:lnTo>
                  <a:cubicBezTo>
                    <a:pt x="43072" y="1310527"/>
                    <a:pt x="0" y="1267455"/>
                    <a:pt x="0" y="1214324"/>
                  </a:cubicBezTo>
                  <a:lnTo>
                    <a:pt x="0" y="96203"/>
                  </a:lnTo>
                  <a:cubicBezTo>
                    <a:pt x="0" y="43072"/>
                    <a:pt x="43072" y="0"/>
                    <a:pt x="96203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63021" cy="1348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4211258" y="4973439"/>
            <a:ext cx="1821917" cy="1599975"/>
          </a:xfrm>
          <a:custGeom>
            <a:avLst/>
            <a:gdLst/>
            <a:ahLst/>
            <a:cxnLst/>
            <a:rect r="r" b="b" t="t" l="l"/>
            <a:pathLst>
              <a:path h="1599975" w="1821917">
                <a:moveTo>
                  <a:pt x="0" y="0"/>
                </a:moveTo>
                <a:lnTo>
                  <a:pt x="1821917" y="0"/>
                </a:lnTo>
                <a:lnTo>
                  <a:pt x="1821917" y="1599975"/>
                </a:lnTo>
                <a:lnTo>
                  <a:pt x="0" y="159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2294591" y="3935642"/>
            <a:ext cx="10139659" cy="195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  <a:spcBef>
                <a:spcPct val="0"/>
              </a:spcBef>
            </a:pPr>
            <a:r>
              <a:rPr lang="en-US" b="true" sz="98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YOU!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5802610" y="6871253"/>
            <a:ext cx="230565" cy="230565"/>
          </a:xfrm>
          <a:custGeom>
            <a:avLst/>
            <a:gdLst/>
            <a:ahLst/>
            <a:cxnLst/>
            <a:rect r="r" b="b" t="t" l="l"/>
            <a:pathLst>
              <a:path h="230565" w="230565">
                <a:moveTo>
                  <a:pt x="0" y="0"/>
                </a:moveTo>
                <a:lnTo>
                  <a:pt x="230565" y="0"/>
                </a:lnTo>
                <a:lnTo>
                  <a:pt x="230565" y="230566"/>
                </a:lnTo>
                <a:lnTo>
                  <a:pt x="0" y="23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4328066" y="6783828"/>
            <a:ext cx="1614591" cy="3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4"/>
              </a:lnSpc>
              <a:spcBef>
                <a:spcPct val="0"/>
              </a:spcBef>
            </a:pPr>
            <a:r>
              <a:rPr lang="en-US" sz="203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UNLOCKED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4564144" y="2112422"/>
            <a:ext cx="1685076" cy="621151"/>
            <a:chOff x="0" y="0"/>
            <a:chExt cx="443806" cy="1635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43806" cy="163595"/>
            </a:xfrm>
            <a:custGeom>
              <a:avLst/>
              <a:gdLst/>
              <a:ahLst/>
              <a:cxnLst/>
              <a:rect r="r" b="b" t="t" l="l"/>
              <a:pathLst>
                <a:path h="163595" w="443806">
                  <a:moveTo>
                    <a:pt x="81798" y="0"/>
                  </a:moveTo>
                  <a:lnTo>
                    <a:pt x="362008" y="0"/>
                  </a:lnTo>
                  <a:cubicBezTo>
                    <a:pt x="383703" y="0"/>
                    <a:pt x="404508" y="8618"/>
                    <a:pt x="419848" y="23958"/>
                  </a:cubicBezTo>
                  <a:cubicBezTo>
                    <a:pt x="435188" y="39298"/>
                    <a:pt x="443806" y="60104"/>
                    <a:pt x="443806" y="81798"/>
                  </a:cubicBezTo>
                  <a:lnTo>
                    <a:pt x="443806" y="81798"/>
                  </a:lnTo>
                  <a:cubicBezTo>
                    <a:pt x="443806" y="103492"/>
                    <a:pt x="435188" y="124297"/>
                    <a:pt x="419848" y="139637"/>
                  </a:cubicBezTo>
                  <a:cubicBezTo>
                    <a:pt x="404508" y="154977"/>
                    <a:pt x="383703" y="163595"/>
                    <a:pt x="362008" y="163595"/>
                  </a:cubicBezTo>
                  <a:lnTo>
                    <a:pt x="81798" y="163595"/>
                  </a:lnTo>
                  <a:cubicBezTo>
                    <a:pt x="60104" y="163595"/>
                    <a:pt x="39298" y="154977"/>
                    <a:pt x="23958" y="139637"/>
                  </a:cubicBezTo>
                  <a:cubicBezTo>
                    <a:pt x="8618" y="124297"/>
                    <a:pt x="0" y="103492"/>
                    <a:pt x="0" y="81798"/>
                  </a:cubicBezTo>
                  <a:lnTo>
                    <a:pt x="0" y="81798"/>
                  </a:lnTo>
                  <a:cubicBezTo>
                    <a:pt x="0" y="60104"/>
                    <a:pt x="8618" y="39298"/>
                    <a:pt x="23958" y="23958"/>
                  </a:cubicBezTo>
                  <a:cubicBezTo>
                    <a:pt x="39298" y="8618"/>
                    <a:pt x="60104" y="0"/>
                    <a:pt x="81798" y="0"/>
                  </a:cubicBezTo>
                  <a:close/>
                </a:path>
              </a:pathLst>
            </a:custGeom>
            <a:solidFill>
              <a:srgbClr val="F4F8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443806" cy="201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Malware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DAG71lPWdeU</dc:identifier>
  <dcterms:modified xsi:type="dcterms:W3CDTF">2011-08-01T06:04:30Z</dcterms:modified>
  <cp:revision>1</cp:revision>
  <dc:title>Scam Crime Script Analysis</dc:title>
</cp:coreProperties>
</file>